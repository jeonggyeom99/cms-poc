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02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69424-09E4-4494-B756-D0C097EA333D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9E647-3201-41FC-A2DE-AE8873CE5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63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FB5A-5C0E-EBE9-E389-953D99D2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F5B710-4D23-0901-9501-AA13C763F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BDC983-DBDE-701C-6890-6E9B1C53D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AF0D02-FDB4-68EA-C2E6-A4731A7337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8AA6CF-9239-448C-B375-B04B35A95B83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8602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2F217-C1B1-EEF7-7D2C-17945E512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1D3E3F-3A62-92FC-0255-2B476BBBF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7A0CFF-4845-C963-5C25-5177A04D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CAF287-2D16-F736-BCBD-C32195F9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F4E92-FCDB-ADE9-AEFC-C61404ABD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64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268A8-5D6A-216F-6E13-1EE4813F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DF1B3-54E7-3B1E-9003-10DDE72D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E9B72A-CC7B-7479-573A-03869904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42299-FEC6-FAAA-44AF-FB4C52B6A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8DAB4C-CDF1-0A71-2A50-054BDD42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9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3C589-EC5E-B719-E10E-C8001B535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42BFC7-2451-7A68-6739-C94C40051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8A4A88-5756-69CA-C600-CAC2A32B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2764B-1B1E-CF8B-5FC5-5D5F726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471DF-DFE9-5560-6B6C-E69FEEE8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3009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09A977-7542-A6F1-7A3C-067EB5B9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E72E4-11E4-3ECC-F42F-F8B35F03E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6AAB8E-72CF-7359-6BB9-815E4AEFF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5CEF29-C7A4-C355-027B-579FA560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A85356-F644-A94C-4566-6D6A6F04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84EEE6-E4B9-FFA9-9F31-CFF0E181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64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B98E2-1BE0-E997-4229-7DCE658DA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B0712D-F665-9306-3C2F-513760334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D69160-746A-6BE8-51EC-DC3C3C0FC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18B1AF-57FD-C59C-6D54-2EA43E18C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B3B679-B61C-77CE-9BC4-9E4255AFB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9E05EA-3D46-925F-BF6D-9BD66A1B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3DDAB7-36B4-327F-AD0D-B8A802B6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6BF36-D536-F183-9DE9-E8E9581E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112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314F7-8862-7448-80A9-8EE52937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B6440E-88A5-0A33-4795-C5BAA4E99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DC34DC-2300-3BCE-1188-9038FD2D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764DB3-6E3A-638F-838D-211E6703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706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D734DD-BF9D-B44C-2F1E-47F7377F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7D2B81-5866-1EB2-D449-30B713F2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82F52-DCE2-3116-2140-405D8E17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77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2DD24-1C9A-FDA2-04AB-C121D812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CC4E9-45EC-12E3-A0A8-936291534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CA1AFE-610E-7D60-4B81-FD0447BB7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2EEA68-1CED-20A5-4658-8CE8E41A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317418-BF84-1530-BA33-A84691AE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1E9A79-EEBB-6FFB-3EBD-5450F336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726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E8EF4-513F-8A21-E910-720A83EC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D6C695-F633-AF71-A9C1-074986D2C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178902-A0EF-E201-95E3-5CA85D4B6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3C64BC-0339-E3F1-DA82-99246FB0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466D6-4087-9EDC-7FFD-94358D93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EA9B40-23C0-96C2-C49E-ED10E069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064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BB88C2-27A2-4BC0-433A-E11116B9D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20213-DDA5-665E-6B29-6BB5F1F21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08924-F63F-BE4D-152F-37EB1C22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9F41B5-DAF9-BE20-52D5-907413B7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782C0-3928-1FBA-F62E-4908A178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50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8E1026-97CE-A692-4E8A-31FF9FB17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12FAD5-BA61-59EC-8FE0-7BE02E2E6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5BF188-9E1E-A663-6229-A77E0033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6F90A6-84A1-D601-9D04-4AAAEF69B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D16D1-F93A-7BE3-71A8-7E207BA6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239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59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D57927-57C0-7837-FEE1-4A4537A88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94D4B-48E3-E909-ED61-3B3735E16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F97A1-D123-46B2-40A5-6DB4B6ED3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86038-E026-4BCA-890B-8C3A3C7B5AF0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3E09C-9F94-C712-7147-440760610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76BB7-47D1-0EBA-5DEB-FFEC4CA7E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1B1BD-AEBA-4DB2-8F21-7BB1D39966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2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EDBE3-EFF0-AF1E-F1DC-31A1FF5A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2E06BF74-5904-94FB-FCC2-66FB975CA7B2}"/>
              </a:ext>
            </a:extLst>
          </p:cNvPr>
          <p:cNvGraphicFramePr>
            <a:graphicFrameLocks noGrp="1"/>
          </p:cNvGraphicFramePr>
          <p:nvPr/>
        </p:nvGraphicFramePr>
        <p:xfrm>
          <a:off x="1343472" y="2464971"/>
          <a:ext cx="9577064" cy="43240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79250">
                  <a:extLst>
                    <a:ext uri="{9D8B030D-6E8A-4147-A177-3AD203B41FA5}">
                      <a16:colId xmlns:a16="http://schemas.microsoft.com/office/drawing/2014/main" val="431006993"/>
                    </a:ext>
                  </a:extLst>
                </a:gridCol>
                <a:gridCol w="4797814">
                  <a:extLst>
                    <a:ext uri="{9D8B030D-6E8A-4147-A177-3AD203B41FA5}">
                      <a16:colId xmlns:a16="http://schemas.microsoft.com/office/drawing/2014/main" val="52369100"/>
                    </a:ext>
                  </a:extLst>
                </a:gridCol>
              </a:tblGrid>
              <a:tr h="3579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경향관리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bg1"/>
                          </a:solidFill>
                        </a:rPr>
                        <a:t>정밀진단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chemeClr val="bg1"/>
                          </a:solidFill>
                        </a:rPr>
                        <a:t>주파수 분석 등</a:t>
                      </a:r>
                      <a:r>
                        <a:rPr lang="en-US" altLang="ko-KR" sz="1100" b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3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987678"/>
                  </a:ext>
                </a:extLst>
              </a:tr>
              <a:tr h="3966072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45253"/>
                  </a:ext>
                </a:extLst>
              </a:tr>
            </a:tbl>
          </a:graphicData>
        </a:graphic>
      </p:graphicFrame>
      <p:sp>
        <p:nvSpPr>
          <p:cNvPr id="54" name="제목 1">
            <a:extLst>
              <a:ext uri="{FF2B5EF4-FFF2-40B4-BE49-F238E27FC236}">
                <a16:creationId xmlns:a16="http://schemas.microsoft.com/office/drawing/2014/main" id="{C44D9DD3-B382-D59C-933E-CD5DD9A10776}"/>
              </a:ext>
            </a:extLst>
          </p:cNvPr>
          <p:cNvSpPr txBox="1">
            <a:spLocks/>
          </p:cNvSpPr>
          <p:nvPr/>
        </p:nvSpPr>
        <p:spPr>
          <a:xfrm>
            <a:off x="1192525" y="82267"/>
            <a:ext cx="6332183" cy="492443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b="1" kern="1200" baseline="0">
                <a:solidFill>
                  <a:srgbClr val="09507D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600"/>
              <a:t>[1</a:t>
            </a:r>
            <a:r>
              <a:rPr lang="ko-KR" altLang="en-US" sz="2600"/>
              <a:t>냉연</a:t>
            </a:r>
            <a:r>
              <a:rPr lang="en-US" altLang="ko-KR" sz="2600"/>
              <a:t>] CMS Data </a:t>
            </a:r>
            <a:r>
              <a:rPr lang="ko-KR" altLang="en-US" sz="2600"/>
              <a:t>모니터링 및 진단결과</a:t>
            </a:r>
            <a:endParaRPr lang="ko-KR" altLang="en-US" sz="240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C550CDC6-3CA6-F085-5BDC-2E2F3570B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407148"/>
              </p:ext>
            </p:extLst>
          </p:nvPr>
        </p:nvGraphicFramePr>
        <p:xfrm>
          <a:off x="1343472" y="617572"/>
          <a:ext cx="9558500" cy="1634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99">
                  <a:extLst>
                    <a:ext uri="{9D8B030D-6E8A-4147-A177-3AD203B41FA5}">
                      <a16:colId xmlns:a16="http://schemas.microsoft.com/office/drawing/2014/main" val="4257838288"/>
                    </a:ext>
                  </a:extLst>
                </a:gridCol>
                <a:gridCol w="738360">
                  <a:extLst>
                    <a:ext uri="{9D8B030D-6E8A-4147-A177-3AD203B41FA5}">
                      <a16:colId xmlns:a16="http://schemas.microsoft.com/office/drawing/2014/main" val="93843942"/>
                    </a:ext>
                  </a:extLst>
                </a:gridCol>
                <a:gridCol w="284689">
                  <a:extLst>
                    <a:ext uri="{9D8B030D-6E8A-4147-A177-3AD203B41FA5}">
                      <a16:colId xmlns:a16="http://schemas.microsoft.com/office/drawing/2014/main" val="57405321"/>
                    </a:ext>
                  </a:extLst>
                </a:gridCol>
                <a:gridCol w="622210">
                  <a:extLst>
                    <a:ext uri="{9D8B030D-6E8A-4147-A177-3AD203B41FA5}">
                      <a16:colId xmlns:a16="http://schemas.microsoft.com/office/drawing/2014/main" val="3437651607"/>
                    </a:ext>
                  </a:extLst>
                </a:gridCol>
                <a:gridCol w="329967">
                  <a:extLst>
                    <a:ext uri="{9D8B030D-6E8A-4147-A177-3AD203B41FA5}">
                      <a16:colId xmlns:a16="http://schemas.microsoft.com/office/drawing/2014/main" val="3704687802"/>
                    </a:ext>
                  </a:extLst>
                </a:gridCol>
                <a:gridCol w="466536">
                  <a:extLst>
                    <a:ext uri="{9D8B030D-6E8A-4147-A177-3AD203B41FA5}">
                      <a16:colId xmlns:a16="http://schemas.microsoft.com/office/drawing/2014/main" val="926669676"/>
                    </a:ext>
                  </a:extLst>
                </a:gridCol>
                <a:gridCol w="885543">
                  <a:extLst>
                    <a:ext uri="{9D8B030D-6E8A-4147-A177-3AD203B41FA5}">
                      <a16:colId xmlns:a16="http://schemas.microsoft.com/office/drawing/2014/main" val="4173592646"/>
                    </a:ext>
                  </a:extLst>
                </a:gridCol>
                <a:gridCol w="1197550">
                  <a:extLst>
                    <a:ext uri="{9D8B030D-6E8A-4147-A177-3AD203B41FA5}">
                      <a16:colId xmlns:a16="http://schemas.microsoft.com/office/drawing/2014/main" val="1531485608"/>
                    </a:ext>
                  </a:extLst>
                </a:gridCol>
                <a:gridCol w="1103747">
                  <a:extLst>
                    <a:ext uri="{9D8B030D-6E8A-4147-A177-3AD203B41FA5}">
                      <a16:colId xmlns:a16="http://schemas.microsoft.com/office/drawing/2014/main" val="2931534064"/>
                    </a:ext>
                  </a:extLst>
                </a:gridCol>
                <a:gridCol w="867055">
                  <a:extLst>
                    <a:ext uri="{9D8B030D-6E8A-4147-A177-3AD203B41FA5}">
                      <a16:colId xmlns:a16="http://schemas.microsoft.com/office/drawing/2014/main" val="2941496414"/>
                    </a:ext>
                  </a:extLst>
                </a:gridCol>
                <a:gridCol w="353859">
                  <a:extLst>
                    <a:ext uri="{9D8B030D-6E8A-4147-A177-3AD203B41FA5}">
                      <a16:colId xmlns:a16="http://schemas.microsoft.com/office/drawing/2014/main" val="2138234505"/>
                    </a:ext>
                  </a:extLst>
                </a:gridCol>
                <a:gridCol w="598486">
                  <a:extLst>
                    <a:ext uri="{9D8B030D-6E8A-4147-A177-3AD203B41FA5}">
                      <a16:colId xmlns:a16="http://schemas.microsoft.com/office/drawing/2014/main" val="2600753508"/>
                    </a:ext>
                  </a:extLst>
                </a:gridCol>
                <a:gridCol w="901299">
                  <a:extLst>
                    <a:ext uri="{9D8B030D-6E8A-4147-A177-3AD203B41FA5}">
                      <a16:colId xmlns:a16="http://schemas.microsoft.com/office/drawing/2014/main" val="3126216508"/>
                    </a:ext>
                  </a:extLst>
                </a:gridCol>
              </a:tblGrid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공장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</a:t>
                      </a:r>
                      <a:r>
                        <a:rPr lang="ko-KR" altLang="en-US" sz="1200" b="0"/>
                        <a:t>냉연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en-US" altLang="ko-KR" sz="13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정비섹션</a:t>
                      </a:r>
                      <a:endParaRPr lang="ko-KR" altLang="en-US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냉연</a:t>
                      </a:r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작성일시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‘26.4.8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설비관제 최상준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04909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설비명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#3 TENSION BRIDLE ROLL-4 1</a:t>
                      </a:r>
                      <a:r>
                        <a:rPr lang="ko-KR" altLang="en-US" sz="1200" b="0"/>
                        <a:t>단 부하</a:t>
                      </a:r>
                      <a:endParaRPr lang="en-US" altLang="ko-KR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/>
                        <a:t>센서번호</a:t>
                      </a:r>
                      <a:endParaRPr lang="en-US" altLang="ko-KR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/>
                        <a:t>CMS </a:t>
                      </a:r>
                      <a:r>
                        <a:rPr lang="ko-KR" altLang="en-US" sz="1300" b="1"/>
                        <a:t>메이커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우진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센서번호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41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24950"/>
                  </a:ext>
                </a:extLst>
              </a:tr>
              <a:tr h="3831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사양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회전수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1785 RPM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베어링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70" baseline="0"/>
                        <a:t>22222E1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/>
                        <a:t>알람</a:t>
                      </a:r>
                      <a:r>
                        <a:rPr lang="en-US" altLang="ko-KR" sz="1000" b="0"/>
                        <a:t>(</a:t>
                      </a:r>
                      <a:r>
                        <a:rPr lang="ko-KR" altLang="en-US" sz="1000" b="0"/>
                        <a:t>주의</a:t>
                      </a:r>
                      <a:r>
                        <a:rPr lang="en-US" altLang="ko-KR" sz="1000" b="0"/>
                        <a:t>/</a:t>
                      </a:r>
                      <a:r>
                        <a:rPr lang="ko-KR" altLang="en-US" sz="1000" b="0"/>
                        <a:t>위험</a:t>
                      </a:r>
                      <a:r>
                        <a:rPr lang="en-US" altLang="ko-KR" sz="1000" b="0"/>
                        <a:t>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속도</a:t>
                      </a:r>
                      <a:r>
                        <a:rPr lang="en-US" altLang="ko-KR" sz="1200" b="0"/>
                        <a:t>(mm/s)</a:t>
                      </a:r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0.5 / 1  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/>
                        <a:t>가속도</a:t>
                      </a:r>
                      <a:r>
                        <a:rPr lang="en-US" altLang="ko-KR" sz="1200" b="0"/>
                        <a:t>(g)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0.4 / 0.8</a:t>
                      </a:r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362034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현상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‘26.3.28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일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이후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속도 지속적 상승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(5~9mm/s ,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위험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Alarm)</a:t>
                      </a:r>
                      <a:endParaRPr lang="en-US" altLang="ko-KR" sz="1050" b="0" i="1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087191"/>
                  </a:ext>
                </a:extLst>
              </a:tr>
              <a:tr h="2426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>
                          <a:solidFill>
                            <a:schemeClr val="tx1"/>
                          </a:solidFill>
                        </a:rPr>
                        <a:t>진단결과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.  </a:t>
                      </a:r>
                      <a:r>
                        <a:rPr lang="ko-KR" altLang="en-US" sz="1200" b="0">
                          <a:solidFill>
                            <a:srgbClr val="0000FF"/>
                          </a:solidFill>
                        </a:rPr>
                        <a:t>비동기성 성분으로 내부 부품 마모</a:t>
                      </a:r>
                      <a:r>
                        <a:rPr lang="en-US" altLang="ko-KR" sz="1200" b="0">
                          <a:solidFill>
                            <a:srgbClr val="0000FF"/>
                          </a:solidFill>
                        </a:rPr>
                        <a:t>/</a:t>
                      </a:r>
                      <a:r>
                        <a:rPr lang="ko-KR" altLang="en-US" sz="1200" b="0">
                          <a:solidFill>
                            <a:srgbClr val="0000FF"/>
                          </a:solidFill>
                        </a:rPr>
                        <a:t>유격 및 지지 구조물의 강성 저하 추정</a:t>
                      </a:r>
                      <a:endParaRPr lang="en-US" altLang="ko-KR" sz="1200" b="1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0377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FFE1090-8182-A203-4E84-2810CC8787E2}"/>
              </a:ext>
            </a:extLst>
          </p:cNvPr>
          <p:cNvSpPr txBox="1"/>
          <p:nvPr/>
        </p:nvSpPr>
        <p:spPr>
          <a:xfrm>
            <a:off x="1343472" y="2777473"/>
            <a:ext cx="4820862" cy="305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30"/>
              <a:t>속도 </a:t>
            </a:r>
            <a:r>
              <a:rPr lang="en-US" altLang="ko-KR" sz="1200" b="1" spc="-30"/>
              <a:t>: </a:t>
            </a:r>
            <a:r>
              <a:rPr lang="en-US" altLang="ko-KR" sz="1200" b="1" spc="-30">
                <a:solidFill>
                  <a:srgbClr val="0000FF"/>
                </a:solidFill>
              </a:rPr>
              <a:t>’</a:t>
            </a:r>
            <a:r>
              <a:rPr lang="en-US" altLang="ko-KR" sz="1200" b="1">
                <a:solidFill>
                  <a:srgbClr val="0000FF"/>
                </a:solidFill>
              </a:rPr>
              <a:t>26.3.28 </a:t>
            </a:r>
            <a:r>
              <a:rPr lang="ko-KR" altLang="en-US" sz="1200" b="1">
                <a:solidFill>
                  <a:srgbClr val="0000FF"/>
                </a:solidFill>
              </a:rPr>
              <a:t>이후</a:t>
            </a:r>
            <a:r>
              <a:rPr lang="en-US" altLang="ko-KR" sz="1200" b="1">
                <a:solidFill>
                  <a:srgbClr val="0000FF"/>
                </a:solidFill>
              </a:rPr>
              <a:t>, </a:t>
            </a:r>
            <a:r>
              <a:rPr lang="ko-KR" altLang="en-US" sz="1200" b="1">
                <a:solidFill>
                  <a:srgbClr val="0000FF"/>
                </a:solidFill>
              </a:rPr>
              <a:t>속도 상승 </a:t>
            </a:r>
            <a:r>
              <a:rPr lang="en-US" altLang="ko-KR" sz="1200" b="1">
                <a:solidFill>
                  <a:srgbClr val="0000FF"/>
                </a:solidFill>
              </a:rPr>
              <a:t>(5 ~ 9mm/s)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9EB05-4F59-20C8-2335-BB21AEDDAD06}"/>
              </a:ext>
            </a:extLst>
          </p:cNvPr>
          <p:cNvSpPr txBox="1"/>
          <p:nvPr/>
        </p:nvSpPr>
        <p:spPr>
          <a:xfrm>
            <a:off x="6164334" y="2777473"/>
            <a:ext cx="4820862" cy="786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30"/>
              <a:t>주파수 분석 </a:t>
            </a:r>
            <a:r>
              <a:rPr lang="en-US" altLang="ko-KR" sz="1200" b="1" spc="-30"/>
              <a:t>: </a:t>
            </a:r>
            <a:r>
              <a:rPr lang="ko-KR" altLang="en-US" sz="1200" b="1" spc="-30"/>
              <a:t>비동기성 성분이 지배적으로</a:t>
            </a:r>
            <a:r>
              <a:rPr lang="en-US" altLang="ko-KR" sz="1200" b="1" spc="-30"/>
              <a:t>, </a:t>
            </a:r>
            <a:r>
              <a:rPr lang="ko-KR" altLang="en-US" sz="1200" b="1" spc="-30"/>
              <a:t>전원 주파수</a:t>
            </a:r>
            <a:r>
              <a:rPr lang="en-US" altLang="ko-KR" sz="1200" b="1" spc="-30"/>
              <a:t>(60Hz)</a:t>
            </a:r>
            <a:r>
              <a:rPr lang="ko-KR" altLang="en-US" sz="1200" b="1" spc="-30"/>
              <a:t>와</a:t>
            </a:r>
            <a:r>
              <a:rPr lang="en-US" altLang="ko-KR" sz="1200" b="1" spc="-30"/>
              <a:t> </a:t>
            </a:r>
          </a:p>
          <a:p>
            <a:pPr>
              <a:lnSpc>
                <a:spcPct val="130000"/>
              </a:lnSpc>
            </a:pPr>
            <a:r>
              <a:rPr lang="en-US" altLang="ko-KR" sz="1200" b="1" spc="-30"/>
              <a:t>    </a:t>
            </a:r>
            <a:r>
              <a:rPr lang="ko-KR" altLang="en-US" sz="1200" b="1" spc="-30"/>
              <a:t>설비의 구조적 진동수가 복합적으로 작용</a:t>
            </a:r>
            <a:endParaRPr lang="en-US" altLang="ko-KR" sz="1200" b="1" spc="-30"/>
          </a:p>
          <a:p>
            <a:pPr>
              <a:lnSpc>
                <a:spcPct val="130000"/>
              </a:lnSpc>
            </a:pPr>
            <a:r>
              <a:rPr lang="en-US" altLang="ko-KR" sz="1200" spc="-30"/>
              <a:t> </a:t>
            </a:r>
            <a:r>
              <a:rPr lang="en-US" altLang="ko-KR" sz="1200" b="1" spc="-30">
                <a:solidFill>
                  <a:srgbClr val="0000FF"/>
                </a:solidFill>
              </a:rPr>
              <a:t> </a:t>
            </a:r>
            <a:r>
              <a:rPr lang="ko-KR" altLang="en-US" sz="1200" b="1" spc="-30">
                <a:solidFill>
                  <a:srgbClr val="0000FF"/>
                </a:solidFill>
              </a:rPr>
              <a:t>☞ 설비 내부 부품의 마모</a:t>
            </a:r>
            <a:r>
              <a:rPr lang="en-US" altLang="ko-KR" sz="1200" b="1" spc="-30">
                <a:solidFill>
                  <a:srgbClr val="0000FF"/>
                </a:solidFill>
              </a:rPr>
              <a:t>/</a:t>
            </a:r>
            <a:r>
              <a:rPr lang="ko-KR" altLang="en-US" sz="1200" b="1" spc="-30">
                <a:solidFill>
                  <a:srgbClr val="0000FF"/>
                </a:solidFill>
              </a:rPr>
              <a:t>유격 및 지지 구조물 강성 저하 추정</a:t>
            </a:r>
            <a:endParaRPr lang="en-US" altLang="ko-KR" sz="1200" b="1" spc="-3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6028AB-A2F5-95BB-8E24-A0B21376C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126" y="3176145"/>
            <a:ext cx="4577546" cy="3465548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36CBFDE1-D201-60E8-18A0-E5F8E2018B1D}"/>
              </a:ext>
            </a:extLst>
          </p:cNvPr>
          <p:cNvSpPr/>
          <p:nvPr/>
        </p:nvSpPr>
        <p:spPr>
          <a:xfrm>
            <a:off x="5439760" y="5450888"/>
            <a:ext cx="399495" cy="6747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BE603-4297-9051-A213-6263838A3489}"/>
              </a:ext>
            </a:extLst>
          </p:cNvPr>
          <p:cNvSpPr txBox="1"/>
          <p:nvPr/>
        </p:nvSpPr>
        <p:spPr>
          <a:xfrm>
            <a:off x="5077876" y="5134888"/>
            <a:ext cx="718466" cy="2308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900" b="1"/>
              <a:t>5~9mm/s</a:t>
            </a:r>
            <a:endParaRPr lang="ko-KR" altLang="en-US" sz="900" b="1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FF376EB-C0DF-F238-8109-D035D097C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058" y="3666478"/>
            <a:ext cx="4577546" cy="297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7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153</Words>
  <Application>Microsoft Office PowerPoint</Application>
  <PresentationFormat>와이드스크린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최상준(Choi Sangjun)_계장_(포항)설비기술부</dc:creator>
  <cp:lastModifiedBy>최상준(Choi Sangjun)_계장_(포항)설비기술부</cp:lastModifiedBy>
  <cp:revision>38</cp:revision>
  <dcterms:created xsi:type="dcterms:W3CDTF">2026-01-19T04:13:34Z</dcterms:created>
  <dcterms:modified xsi:type="dcterms:W3CDTF">2026-04-08T06:42:33Z</dcterms:modified>
</cp:coreProperties>
</file>