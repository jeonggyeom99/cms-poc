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901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104" userDrawn="1">
          <p15:clr>
            <a:srgbClr val="A4A3A4"/>
          </p15:clr>
        </p15:guide>
        <p15:guide id="4" pos="1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FD"/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32" y="96"/>
      </p:cViewPr>
      <p:guideLst>
        <p:guide orient="horz" pos="2160"/>
        <p:guide pos="3120"/>
        <p:guide pos="104"/>
        <p:guide pos="1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57456-AF01-4CFC-8631-EAAF1ADBCE0E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38E29-D0E9-4C7F-BB53-BB2A0C3812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811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68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59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35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8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06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60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40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08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51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91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1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C0E2-C95B-4030-82C1-2603EA3B4BF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432D1-BB6B-4352-8E1C-6655F7F2978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57">
            <a:extLst>
              <a:ext uri="{FF2B5EF4-FFF2-40B4-BE49-F238E27FC236}">
                <a16:creationId xmlns:a16="http://schemas.microsoft.com/office/drawing/2014/main" id="{2C7DAEB8-6DFE-1138-3B00-F73A078AF701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01"/>
            <a:ext cx="9906000" cy="648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645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06D1A-1F93-7978-FE9B-B523EC62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6">
            <a:extLst>
              <a:ext uri="{FF2B5EF4-FFF2-40B4-BE49-F238E27FC236}">
                <a16:creationId xmlns:a16="http://schemas.microsoft.com/office/drawing/2014/main" id="{E7751045-0D62-2BAA-5296-A7CB6223E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562897"/>
              </p:ext>
            </p:extLst>
          </p:nvPr>
        </p:nvGraphicFramePr>
        <p:xfrm>
          <a:off x="164468" y="2358337"/>
          <a:ext cx="9577064" cy="41517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532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788532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329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8188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0A7E232-A923-FEA7-477A-14DB34BC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6" y="3266091"/>
            <a:ext cx="4584909" cy="3141234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629D334C-8D91-8219-2D61-F82F7668BC0E}"/>
              </a:ext>
            </a:extLst>
          </p:cNvPr>
          <p:cNvSpPr txBox="1">
            <a:spLocks/>
          </p:cNvSpPr>
          <p:nvPr/>
        </p:nvSpPr>
        <p:spPr>
          <a:xfrm>
            <a:off x="49694" y="84047"/>
            <a:ext cx="9856305" cy="519566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30000"/>
              </a:lnSpc>
              <a:defRPr/>
            </a:pPr>
            <a:r>
              <a:rPr lang="en-US" altLang="ko-KR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[3</a:t>
            </a: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전기강판</a:t>
            </a:r>
            <a:r>
              <a:rPr lang="en-US" altLang="ko-KR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] 3DNL Cleaning Unit Fume Exhaust Fan CMS </a:t>
            </a: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진단결과</a:t>
            </a:r>
            <a:endParaRPr lang="ko-KR" altLang="en-US"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0B46345-7334-A915-4B97-3B4B28E25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91646"/>
              </p:ext>
            </p:extLst>
          </p:nvPr>
        </p:nvGraphicFramePr>
        <p:xfrm>
          <a:off x="165000" y="824945"/>
          <a:ext cx="9665665" cy="1407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502">
                  <a:extLst>
                    <a:ext uri="{9D8B030D-6E8A-4147-A177-3AD203B41FA5}">
                      <a16:colId xmlns:a16="http://schemas.microsoft.com/office/drawing/2014/main" val="1934368070"/>
                    </a:ext>
                  </a:extLst>
                </a:gridCol>
                <a:gridCol w="706007">
                  <a:extLst>
                    <a:ext uri="{9D8B030D-6E8A-4147-A177-3AD203B41FA5}">
                      <a16:colId xmlns:a16="http://schemas.microsoft.com/office/drawing/2014/main" val="1877363827"/>
                    </a:ext>
                  </a:extLst>
                </a:gridCol>
                <a:gridCol w="730700">
                  <a:extLst>
                    <a:ext uri="{9D8B030D-6E8A-4147-A177-3AD203B41FA5}">
                      <a16:colId xmlns:a16="http://schemas.microsoft.com/office/drawing/2014/main" val="2976022466"/>
                    </a:ext>
                  </a:extLst>
                </a:gridCol>
                <a:gridCol w="177378">
                  <a:extLst>
                    <a:ext uri="{9D8B030D-6E8A-4147-A177-3AD203B41FA5}">
                      <a16:colId xmlns:a16="http://schemas.microsoft.com/office/drawing/2014/main" val="3572410841"/>
                    </a:ext>
                  </a:extLst>
                </a:gridCol>
                <a:gridCol w="648195">
                  <a:extLst>
                    <a:ext uri="{9D8B030D-6E8A-4147-A177-3AD203B41FA5}">
                      <a16:colId xmlns:a16="http://schemas.microsoft.com/office/drawing/2014/main" val="4113705599"/>
                    </a:ext>
                  </a:extLst>
                </a:gridCol>
                <a:gridCol w="1250816">
                  <a:extLst>
                    <a:ext uri="{9D8B030D-6E8A-4147-A177-3AD203B41FA5}">
                      <a16:colId xmlns:a16="http://schemas.microsoft.com/office/drawing/2014/main" val="1146127149"/>
                    </a:ext>
                  </a:extLst>
                </a:gridCol>
                <a:gridCol w="1187719">
                  <a:extLst>
                    <a:ext uri="{9D8B030D-6E8A-4147-A177-3AD203B41FA5}">
                      <a16:colId xmlns:a16="http://schemas.microsoft.com/office/drawing/2014/main" val="611857959"/>
                    </a:ext>
                  </a:extLst>
                </a:gridCol>
                <a:gridCol w="1098850">
                  <a:extLst>
                    <a:ext uri="{9D8B030D-6E8A-4147-A177-3AD203B41FA5}">
                      <a16:colId xmlns:a16="http://schemas.microsoft.com/office/drawing/2014/main" val="2186202834"/>
                    </a:ext>
                  </a:extLst>
                </a:gridCol>
                <a:gridCol w="1092904">
                  <a:extLst>
                    <a:ext uri="{9D8B030D-6E8A-4147-A177-3AD203B41FA5}">
                      <a16:colId xmlns:a16="http://schemas.microsoft.com/office/drawing/2014/main" val="2854938973"/>
                    </a:ext>
                  </a:extLst>
                </a:gridCol>
                <a:gridCol w="866690">
                  <a:extLst>
                    <a:ext uri="{9D8B030D-6E8A-4147-A177-3AD203B41FA5}">
                      <a16:colId xmlns:a16="http://schemas.microsoft.com/office/drawing/2014/main" val="1983460870"/>
                    </a:ext>
                  </a:extLst>
                </a:gridCol>
                <a:gridCol w="1092904">
                  <a:extLst>
                    <a:ext uri="{9D8B030D-6E8A-4147-A177-3AD203B41FA5}">
                      <a16:colId xmlns:a16="http://schemas.microsoft.com/office/drawing/2014/main" val="1208866204"/>
                    </a:ext>
                  </a:extLst>
                </a:gridCol>
              </a:tblGrid>
              <a:tr h="215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공장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전기강판 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3DNL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정비섹션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전기강판정비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’26.6.23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설비관제 임홍석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06832275"/>
                  </a:ext>
                </a:extLst>
              </a:tr>
              <a:tr h="215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설비명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Cleaning Unit Fume Exhaust Fan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CMS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9237404"/>
                  </a:ext>
                </a:extLst>
              </a:tr>
              <a:tr h="215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사양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1170 RPM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알람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주의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</a:rPr>
                        <a:t>위험</a:t>
                      </a:r>
                      <a:r>
                        <a:rPr lang="en-US" altLang="ko-KR" sz="1100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속도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(mm/s)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1.4 / 2.8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가속도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(g)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0.6 / 1.2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52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l" latinLnBrk="1"/>
                      <a:r>
                        <a:rPr lang="en-US" altLang="ko-KR" sz="1200"/>
                        <a:t>.</a:t>
                      </a:r>
                      <a:r>
                        <a:rPr lang="ko-KR" altLang="en-US" sz="1200"/>
                        <a:t> 해당 설비 </a:t>
                      </a:r>
                      <a:r>
                        <a:rPr lang="en-US" altLang="ko-KR" sz="1200"/>
                        <a:t>V56(Motor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DE </a:t>
                      </a:r>
                      <a:r>
                        <a:rPr lang="ko-KR" altLang="en-US" sz="1200"/>
                        <a:t>측</a:t>
                      </a:r>
                      <a:r>
                        <a:rPr lang="en-US" altLang="ko-KR" sz="1200"/>
                        <a:t>) </a:t>
                      </a:r>
                      <a:r>
                        <a:rPr lang="ko-KR" altLang="en-US" sz="1200"/>
                        <a:t>진동 속도값이 관리 기준치를 초과</a:t>
                      </a:r>
                      <a:r>
                        <a:rPr lang="en-US" altLang="ko-KR" sz="1200"/>
                        <a:t>(2.87mm/s) </a:t>
                      </a:r>
                      <a:r>
                        <a:rPr lang="ko-KR" altLang="en-US" sz="1200"/>
                        <a:t>및 위험 </a:t>
                      </a:r>
                      <a:r>
                        <a:rPr lang="en-US" altLang="ko-KR" sz="1200"/>
                        <a:t>Alarm </a:t>
                      </a:r>
                      <a:r>
                        <a:rPr lang="ko-KR" altLang="en-US" sz="1200"/>
                        <a:t>발생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009670"/>
                  </a:ext>
                </a:extLst>
              </a:tr>
              <a:tr h="2158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  <a:spcAft>
                          <a:spcPts val="200"/>
                        </a:spcAft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회전주파수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1x(20Hz, 4.05mm/s)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에 따른 질량 불평형 상태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(Unbalance)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742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D4921E3-94A2-46B1-D416-D18180E5504F}"/>
              </a:ext>
            </a:extLst>
          </p:cNvPr>
          <p:cNvSpPr txBox="1"/>
          <p:nvPr/>
        </p:nvSpPr>
        <p:spPr>
          <a:xfrm>
            <a:off x="165100" y="2696353"/>
            <a:ext cx="4787901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/>
              <a:t>○ </a:t>
            </a:r>
            <a:r>
              <a:rPr lang="en-US" altLang="ko-KR" sz="1200" b="1"/>
              <a:t>’26.4.3 </a:t>
            </a:r>
            <a:r>
              <a:rPr lang="ko-KR" altLang="en-US" sz="1200" b="1"/>
              <a:t>이후 속도값 우상향 트렌드 및 </a:t>
            </a:r>
            <a:r>
              <a:rPr lang="en-US" altLang="ko-KR" sz="1200" b="1"/>
              <a:t>5.14 </a:t>
            </a:r>
            <a:r>
              <a:rPr lang="ko-KR" altLang="en-US" sz="1200" b="1"/>
              <a:t>주의 </a:t>
            </a:r>
            <a:r>
              <a:rPr lang="en-US" altLang="ko-KR" sz="1200" b="1"/>
              <a:t>Alarm </a:t>
            </a:r>
            <a:r>
              <a:rPr lang="ko-KR" altLang="en-US" sz="1200" b="1"/>
              <a:t>발생</a:t>
            </a:r>
            <a:endParaRPr lang="en-US" altLang="ko-KR" sz="1200" b="1"/>
          </a:p>
          <a:p>
            <a:pPr>
              <a:lnSpc>
                <a:spcPct val="130000"/>
              </a:lnSpc>
            </a:pPr>
            <a:r>
              <a:rPr lang="en-US" altLang="ko-KR" sz="1200"/>
              <a:t>    - ’26.4.3(1.02mm/s) </a:t>
            </a:r>
            <a:r>
              <a:rPr lang="ko-KR" altLang="en-US" sz="1200"/>
              <a:t>→ </a:t>
            </a:r>
            <a:r>
              <a:rPr lang="en-US" altLang="ko-KR" sz="1200"/>
              <a:t>’26.06.15(2.87mm/s)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4548C-AD48-B8DE-C629-1FC8A1F68347}"/>
              </a:ext>
            </a:extLst>
          </p:cNvPr>
          <p:cNvSpPr txBox="1"/>
          <p:nvPr/>
        </p:nvSpPr>
        <p:spPr>
          <a:xfrm>
            <a:off x="2146091" y="4300425"/>
            <a:ext cx="1592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/>
              <a:t>4.3</a:t>
            </a:r>
            <a:r>
              <a:rPr lang="ko-KR" altLang="en-US" sz="1100" b="1"/>
              <a:t>부터 진동 상승 경향</a:t>
            </a:r>
            <a:endParaRPr lang="en-US" altLang="ko-KR" sz="1100" b="1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2E07409-F0AE-5EF9-9D9D-E4D6F03503B6}"/>
              </a:ext>
            </a:extLst>
          </p:cNvPr>
          <p:cNvCxnSpPr>
            <a:cxnSpLocks/>
          </p:cNvCxnSpPr>
          <p:nvPr/>
        </p:nvCxnSpPr>
        <p:spPr>
          <a:xfrm flipH="1">
            <a:off x="2942142" y="4895850"/>
            <a:ext cx="1502723" cy="659091"/>
          </a:xfrm>
          <a:prstGeom prst="line">
            <a:avLst/>
          </a:prstGeom>
          <a:ln w="28575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8B2F4DD-A386-FFC6-BCD1-5F5813236E2D}"/>
              </a:ext>
            </a:extLst>
          </p:cNvPr>
          <p:cNvSpPr txBox="1"/>
          <p:nvPr/>
        </p:nvSpPr>
        <p:spPr>
          <a:xfrm>
            <a:off x="4943699" y="2696353"/>
            <a:ext cx="4787901" cy="55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/>
              <a:t>○ 주파수 분석 </a:t>
            </a:r>
            <a:r>
              <a:rPr lang="en-US" altLang="ko-KR" sz="1200" b="1"/>
              <a:t>: </a:t>
            </a:r>
            <a:r>
              <a:rPr lang="ko-KR" altLang="en-US" sz="1200" b="1"/>
              <a:t>속도값 회전 결함주파수</a:t>
            </a:r>
            <a:r>
              <a:rPr lang="en-US" altLang="ko-KR" sz="1100"/>
              <a:t>(20Hz, 4.05mm/s)</a:t>
            </a:r>
            <a:r>
              <a:rPr lang="ko-KR" altLang="en-US" sz="1200" b="1"/>
              <a:t> 검출</a:t>
            </a:r>
            <a:endParaRPr lang="en-US" altLang="ko-KR" sz="1200" b="1"/>
          </a:p>
          <a:p>
            <a:pPr>
              <a:lnSpc>
                <a:spcPct val="130000"/>
              </a:lnSpc>
            </a:pPr>
            <a:r>
              <a:rPr lang="en-US" altLang="ko-KR" sz="1200" b="1"/>
              <a:t>                                  </a:t>
            </a:r>
            <a:r>
              <a:rPr lang="ko-KR" altLang="en-US" sz="1200" b="1"/>
              <a:t>☞ </a:t>
            </a:r>
            <a:r>
              <a:rPr lang="en-US" altLang="ko-KR" sz="1200" b="1"/>
              <a:t>Motor</a:t>
            </a:r>
            <a:r>
              <a:rPr lang="ko-KR" altLang="en-US" sz="1200" b="1"/>
              <a:t>측 </a:t>
            </a:r>
            <a:r>
              <a:rPr lang="en-US" altLang="ko-KR" sz="1200" b="1"/>
              <a:t>Unbalance </a:t>
            </a:r>
            <a:r>
              <a:rPr lang="ko-KR" altLang="en-US" sz="1200" b="1"/>
              <a:t>상태 점검 필요</a:t>
            </a:r>
            <a:endParaRPr lang="en-US" altLang="ko-KR" sz="1200" b="1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7F8AA82-9491-BDFE-E724-0DA3F89CE458}"/>
              </a:ext>
            </a:extLst>
          </p:cNvPr>
          <p:cNvCxnSpPr>
            <a:cxnSpLocks/>
          </p:cNvCxnSpPr>
          <p:nvPr/>
        </p:nvCxnSpPr>
        <p:spPr>
          <a:xfrm>
            <a:off x="2848067" y="4523865"/>
            <a:ext cx="0" cy="1473021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30C8E5-024D-1BEE-885C-D6F3D398691C}"/>
              </a:ext>
            </a:extLst>
          </p:cNvPr>
          <p:cNvSpPr txBox="1"/>
          <p:nvPr/>
        </p:nvSpPr>
        <p:spPr>
          <a:xfrm>
            <a:off x="5190019" y="6195410"/>
            <a:ext cx="1296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/>
              <a:t>’26.4.4</a:t>
            </a:r>
            <a:endParaRPr lang="ko-KR" altLang="en-US" sz="1100" b="1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67ED87C-D71B-0C47-198C-6788053D7102}"/>
              </a:ext>
            </a:extLst>
          </p:cNvPr>
          <p:cNvGrpSpPr/>
          <p:nvPr/>
        </p:nvGrpSpPr>
        <p:grpSpPr>
          <a:xfrm>
            <a:off x="5190020" y="3278263"/>
            <a:ext cx="4221726" cy="2883997"/>
            <a:chOff x="5243447" y="3116350"/>
            <a:chExt cx="4221726" cy="296640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E39AD6BA-6320-70E8-BBFE-508C74D468A4}"/>
                </a:ext>
              </a:extLst>
            </p:cNvPr>
            <p:cNvGrpSpPr/>
            <p:nvPr/>
          </p:nvGrpSpPr>
          <p:grpSpPr>
            <a:xfrm>
              <a:off x="6706310" y="3117006"/>
              <a:ext cx="1296000" cy="2965744"/>
              <a:chOff x="6728879" y="3117006"/>
              <a:chExt cx="1296000" cy="2965744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4B1761E6-4319-9CB1-95A8-8710E0C4C8C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28879" y="3117006"/>
                <a:ext cx="1296000" cy="2965744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6684C9-FDCB-2404-30FE-FA6619004E4A}"/>
                  </a:ext>
                </a:extLst>
              </p:cNvPr>
              <p:cNvSpPr txBox="1"/>
              <p:nvPr/>
            </p:nvSpPr>
            <p:spPr>
              <a:xfrm>
                <a:off x="6767577" y="4264549"/>
                <a:ext cx="121860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/>
                  <a:t>20Hz, 2.35mm/s</a:t>
                </a:r>
                <a:endParaRPr lang="ko-KR" altLang="en-US" sz="1100" b="1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98E705C9-8C6D-D761-BCB4-D859F3ABE5AF}"/>
                  </a:ext>
                </a:extLst>
              </p:cNvPr>
              <p:cNvSpPr/>
              <p:nvPr/>
            </p:nvSpPr>
            <p:spPr>
              <a:xfrm>
                <a:off x="7162902" y="4638915"/>
                <a:ext cx="152400" cy="1651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5104833-16FC-2B7B-AE01-9307F0DBB4AF}"/>
                </a:ext>
              </a:extLst>
            </p:cNvPr>
            <p:cNvGrpSpPr/>
            <p:nvPr/>
          </p:nvGrpSpPr>
          <p:grpSpPr>
            <a:xfrm>
              <a:off x="8169173" y="3116350"/>
              <a:ext cx="1296000" cy="2966400"/>
              <a:chOff x="8056797" y="3116350"/>
              <a:chExt cx="1296000" cy="2966400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BD648B72-C718-7653-5823-ECB49E3B76E7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56797" y="3116350"/>
                <a:ext cx="1296000" cy="2966400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F8CD51-A81D-01BB-FB5C-9996EC5A320A}"/>
                  </a:ext>
                </a:extLst>
              </p:cNvPr>
              <p:cNvSpPr txBox="1"/>
              <p:nvPr/>
            </p:nvSpPr>
            <p:spPr>
              <a:xfrm>
                <a:off x="8095495" y="3438366"/>
                <a:ext cx="121860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/>
                  <a:t>20Hz, 4.05mm/s</a:t>
                </a:r>
                <a:endParaRPr lang="ko-KR" altLang="en-US" sz="1100" b="1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5104B02-2B9C-54D3-2C5F-DBFA7CF448A8}"/>
                  </a:ext>
                </a:extLst>
              </p:cNvPr>
              <p:cNvSpPr/>
              <p:nvPr/>
            </p:nvSpPr>
            <p:spPr>
              <a:xfrm>
                <a:off x="8448102" y="3803976"/>
                <a:ext cx="152400" cy="1651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7130D06-6DA4-A74C-09B8-4AA5517A7A6F}"/>
                </a:ext>
              </a:extLst>
            </p:cNvPr>
            <p:cNvGrpSpPr/>
            <p:nvPr/>
          </p:nvGrpSpPr>
          <p:grpSpPr>
            <a:xfrm>
              <a:off x="5243447" y="3116350"/>
              <a:ext cx="1296000" cy="2966400"/>
              <a:chOff x="5243447" y="3116350"/>
              <a:chExt cx="1296000" cy="2966400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BBB6B02-91AE-260A-D16C-B71C1A708050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3447" y="3116350"/>
                <a:ext cx="1296000" cy="29664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6878AF-9518-C575-F09D-83A69EDBD41E}"/>
                  </a:ext>
                </a:extLst>
              </p:cNvPr>
              <p:cNvSpPr txBox="1"/>
              <p:nvPr/>
            </p:nvSpPr>
            <p:spPr>
              <a:xfrm>
                <a:off x="5282145" y="4468745"/>
                <a:ext cx="121860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b="1"/>
                  <a:t>20Hz, 0.65mm/s</a:t>
                </a:r>
                <a:endParaRPr lang="ko-KR" altLang="en-US" sz="1100" b="1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7D453CA1-CC48-74BF-ECFD-B1460FEB7758}"/>
                  </a:ext>
                </a:extLst>
              </p:cNvPr>
              <p:cNvSpPr/>
              <p:nvPr/>
            </p:nvSpPr>
            <p:spPr>
              <a:xfrm>
                <a:off x="5701375" y="4986466"/>
                <a:ext cx="152400" cy="1651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A8B2198-9274-95C6-7135-D4335EF5CA9C}"/>
              </a:ext>
            </a:extLst>
          </p:cNvPr>
          <p:cNvSpPr txBox="1"/>
          <p:nvPr/>
        </p:nvSpPr>
        <p:spPr>
          <a:xfrm>
            <a:off x="6652883" y="6195410"/>
            <a:ext cx="1296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/>
              <a:t>’26.5.18</a:t>
            </a:r>
            <a:endParaRPr lang="ko-KR" altLang="en-US" sz="1100"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74BEF7-5163-31B0-7400-A36780B12D93}"/>
              </a:ext>
            </a:extLst>
          </p:cNvPr>
          <p:cNvSpPr txBox="1"/>
          <p:nvPr/>
        </p:nvSpPr>
        <p:spPr>
          <a:xfrm>
            <a:off x="8115746" y="6195410"/>
            <a:ext cx="1296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/>
              <a:t>’26.6.21</a:t>
            </a:r>
            <a:endParaRPr lang="ko-KR" altLang="en-US" sz="1100" b="1"/>
          </a:p>
        </p:txBody>
      </p:sp>
    </p:spTree>
    <p:extLst>
      <p:ext uri="{BB962C8B-B14F-4D97-AF65-F5344CB8AC3E}">
        <p14:creationId xmlns:p14="http://schemas.microsoft.com/office/powerpoint/2010/main" val="410743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1220</TotalTime>
  <Words>175</Words>
  <Application>Microsoft Office PowerPoint</Application>
  <PresentationFormat>A4 용지(210x297mm)</PresentationFormat>
  <Paragraphs>42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임홍석(Lim Hongseok)_사원_(포항)설비기술부</dc:creator>
  <cp:lastModifiedBy>임홍석(Lim Hongseok)_사원_(포항)설비기술부</cp:lastModifiedBy>
  <cp:revision>43</cp:revision>
  <dcterms:created xsi:type="dcterms:W3CDTF">2026-01-22T01:52:05Z</dcterms:created>
  <dcterms:modified xsi:type="dcterms:W3CDTF">2026-06-23T00:48:34Z</dcterms:modified>
</cp:coreProperties>
</file>