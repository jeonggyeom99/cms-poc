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CEF4"/>
    <a:srgbClr val="F9BFF1"/>
    <a:srgbClr val="F7ABEC"/>
    <a:srgbClr val="F389E4"/>
    <a:srgbClr val="F173DF"/>
    <a:srgbClr val="E7C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1" autoAdjust="0"/>
    <p:restoredTop sz="92857" autoAdjust="0"/>
  </p:normalViewPr>
  <p:slideViewPr>
    <p:cSldViewPr snapToGrid="0">
      <p:cViewPr varScale="1">
        <p:scale>
          <a:sx n="133" d="100"/>
          <a:sy n="133" d="100"/>
        </p:scale>
        <p:origin x="15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62B51-FF03-46A6-B892-CAFCF171CD97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B1819-4F7D-4A4B-A677-2B385C4BE2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26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1819-4F7D-4A4B-A677-2B385C4BE2B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225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3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17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11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233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00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66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96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73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781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41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69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930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28658607-E502-94FC-5448-D39D12EB6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525823"/>
              </p:ext>
            </p:extLst>
          </p:nvPr>
        </p:nvGraphicFramePr>
        <p:xfrm>
          <a:off x="191328" y="2505111"/>
          <a:ext cx="9577064" cy="42838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01296">
                  <a:extLst>
                    <a:ext uri="{9D8B030D-6E8A-4147-A177-3AD203B41FA5}">
                      <a16:colId xmlns:a16="http://schemas.microsoft.com/office/drawing/2014/main" val="431006993"/>
                    </a:ext>
                  </a:extLst>
                </a:gridCol>
                <a:gridCol w="4775768">
                  <a:extLst>
                    <a:ext uri="{9D8B030D-6E8A-4147-A177-3AD203B41FA5}">
                      <a16:colId xmlns:a16="http://schemas.microsoft.com/office/drawing/2014/main" val="52369100"/>
                    </a:ext>
                  </a:extLst>
                </a:gridCol>
              </a:tblGrid>
              <a:tr h="3546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경향관리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정밀진단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</a:rPr>
                        <a:t>주파수 분석 등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3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87678"/>
                  </a:ext>
                </a:extLst>
              </a:tr>
              <a:tr h="3929255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452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E5510EF6-1C2B-57EA-EBBB-58AF10DC240C}"/>
              </a:ext>
            </a:extLst>
          </p:cNvPr>
          <p:cNvSpPr txBox="1">
            <a:spLocks/>
          </p:cNvSpPr>
          <p:nvPr/>
        </p:nvSpPr>
        <p:spPr>
          <a:xfrm>
            <a:off x="40381" y="33283"/>
            <a:ext cx="5471241" cy="492443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b="1" kern="1200" baseline="0">
                <a:solidFill>
                  <a:srgbClr val="09507D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600"/>
              <a:t>[STS2 CMS Data </a:t>
            </a:r>
            <a:r>
              <a:rPr lang="ko-KR" altLang="en-US" sz="2600"/>
              <a:t>모니터링 및 진단결과</a:t>
            </a:r>
            <a:endParaRPr lang="ko-KR" altLang="en-US" sz="2400"/>
          </a:p>
        </p:txBody>
      </p:sp>
      <p:graphicFrame>
        <p:nvGraphicFramePr>
          <p:cNvPr id="6" name="표 10">
            <a:extLst>
              <a:ext uri="{FF2B5EF4-FFF2-40B4-BE49-F238E27FC236}">
                <a16:creationId xmlns:a16="http://schemas.microsoft.com/office/drawing/2014/main" id="{B5E878DF-F04B-5084-0854-C71254370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867111"/>
              </p:ext>
            </p:extLst>
          </p:nvPr>
        </p:nvGraphicFramePr>
        <p:xfrm>
          <a:off x="191328" y="552262"/>
          <a:ext cx="9558500" cy="18386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99">
                  <a:extLst>
                    <a:ext uri="{9D8B030D-6E8A-4147-A177-3AD203B41FA5}">
                      <a16:colId xmlns:a16="http://schemas.microsoft.com/office/drawing/2014/main" val="4257838288"/>
                    </a:ext>
                  </a:extLst>
                </a:gridCol>
                <a:gridCol w="738360">
                  <a:extLst>
                    <a:ext uri="{9D8B030D-6E8A-4147-A177-3AD203B41FA5}">
                      <a16:colId xmlns:a16="http://schemas.microsoft.com/office/drawing/2014/main" val="93843942"/>
                    </a:ext>
                  </a:extLst>
                </a:gridCol>
                <a:gridCol w="284689">
                  <a:extLst>
                    <a:ext uri="{9D8B030D-6E8A-4147-A177-3AD203B41FA5}">
                      <a16:colId xmlns:a16="http://schemas.microsoft.com/office/drawing/2014/main" val="57405321"/>
                    </a:ext>
                  </a:extLst>
                </a:gridCol>
                <a:gridCol w="622210">
                  <a:extLst>
                    <a:ext uri="{9D8B030D-6E8A-4147-A177-3AD203B41FA5}">
                      <a16:colId xmlns:a16="http://schemas.microsoft.com/office/drawing/2014/main" val="3437651607"/>
                    </a:ext>
                  </a:extLst>
                </a:gridCol>
                <a:gridCol w="329967">
                  <a:extLst>
                    <a:ext uri="{9D8B030D-6E8A-4147-A177-3AD203B41FA5}">
                      <a16:colId xmlns:a16="http://schemas.microsoft.com/office/drawing/2014/main" val="3704687802"/>
                    </a:ext>
                  </a:extLst>
                </a:gridCol>
                <a:gridCol w="466536">
                  <a:extLst>
                    <a:ext uri="{9D8B030D-6E8A-4147-A177-3AD203B41FA5}">
                      <a16:colId xmlns:a16="http://schemas.microsoft.com/office/drawing/2014/main" val="926669676"/>
                    </a:ext>
                  </a:extLst>
                </a:gridCol>
                <a:gridCol w="885543">
                  <a:extLst>
                    <a:ext uri="{9D8B030D-6E8A-4147-A177-3AD203B41FA5}">
                      <a16:colId xmlns:a16="http://schemas.microsoft.com/office/drawing/2014/main" val="4173592646"/>
                    </a:ext>
                  </a:extLst>
                </a:gridCol>
                <a:gridCol w="1197550">
                  <a:extLst>
                    <a:ext uri="{9D8B030D-6E8A-4147-A177-3AD203B41FA5}">
                      <a16:colId xmlns:a16="http://schemas.microsoft.com/office/drawing/2014/main" val="1531485608"/>
                    </a:ext>
                  </a:extLst>
                </a:gridCol>
                <a:gridCol w="1103747">
                  <a:extLst>
                    <a:ext uri="{9D8B030D-6E8A-4147-A177-3AD203B41FA5}">
                      <a16:colId xmlns:a16="http://schemas.microsoft.com/office/drawing/2014/main" val="2931534064"/>
                    </a:ext>
                  </a:extLst>
                </a:gridCol>
                <a:gridCol w="867055">
                  <a:extLst>
                    <a:ext uri="{9D8B030D-6E8A-4147-A177-3AD203B41FA5}">
                      <a16:colId xmlns:a16="http://schemas.microsoft.com/office/drawing/2014/main" val="2941496414"/>
                    </a:ext>
                  </a:extLst>
                </a:gridCol>
                <a:gridCol w="353859">
                  <a:extLst>
                    <a:ext uri="{9D8B030D-6E8A-4147-A177-3AD203B41FA5}">
                      <a16:colId xmlns:a16="http://schemas.microsoft.com/office/drawing/2014/main" val="2138234505"/>
                    </a:ext>
                  </a:extLst>
                </a:gridCol>
                <a:gridCol w="598486">
                  <a:extLst>
                    <a:ext uri="{9D8B030D-6E8A-4147-A177-3AD203B41FA5}">
                      <a16:colId xmlns:a16="http://schemas.microsoft.com/office/drawing/2014/main" val="2600753508"/>
                    </a:ext>
                  </a:extLst>
                </a:gridCol>
                <a:gridCol w="901299">
                  <a:extLst>
                    <a:ext uri="{9D8B030D-6E8A-4147-A177-3AD203B41FA5}">
                      <a16:colId xmlns:a16="http://schemas.microsoft.com/office/drawing/2014/main" val="3126216508"/>
                    </a:ext>
                  </a:extLst>
                </a:gridCol>
              </a:tblGrid>
              <a:tr h="243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공장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STS2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en-US" altLang="ko-KR" sz="13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ko-KR" altLang="en-US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STS</a:t>
                      </a:r>
                      <a:r>
                        <a:rPr lang="ko-KR" altLang="en-US" sz="1200"/>
                        <a:t>압연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작성일시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‘26.8.12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설비관제 최상준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04909"/>
                  </a:ext>
                </a:extLst>
              </a:tr>
              <a:tr h="3841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설비명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2APL_Reactor Combustion Air Blower </a:t>
                      </a:r>
                    </a:p>
                    <a:p>
                      <a:pPr algn="ctr" latinLnBrk="1"/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Motor DE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측</a:t>
                      </a:r>
                      <a:endParaRPr lang="en-US" altLang="ko-KR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센서번호</a:t>
                      </a:r>
                      <a:endParaRPr lang="en-US" altLang="ko-KR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/>
                        <a:t>CMS </a:t>
                      </a:r>
                      <a:r>
                        <a:rPr lang="ko-KR" altLang="en-US" sz="1300" b="1"/>
                        <a:t>메이커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우진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센서번호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170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24950"/>
                  </a:ext>
                </a:extLst>
              </a:tr>
              <a:tr h="243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사양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회전수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/>
                        <a:t>3600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베어링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70" baseline="0"/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알람</a:t>
                      </a:r>
                      <a:r>
                        <a:rPr lang="en-US" altLang="ko-KR" sz="1000" b="0"/>
                        <a:t>(</a:t>
                      </a:r>
                      <a:r>
                        <a:rPr lang="ko-KR" altLang="en-US" sz="1000" b="0"/>
                        <a:t>주의</a:t>
                      </a:r>
                      <a:r>
                        <a:rPr lang="en-US" altLang="ko-KR" sz="1000" b="0"/>
                        <a:t>/</a:t>
                      </a:r>
                      <a:r>
                        <a:rPr lang="ko-KR" altLang="en-US" sz="1000" b="0"/>
                        <a:t>위험</a:t>
                      </a:r>
                      <a:r>
                        <a:rPr lang="en-US" altLang="ko-KR" sz="1000" b="0"/>
                        <a:t>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속도</a:t>
                      </a:r>
                      <a:r>
                        <a:rPr lang="en-US" altLang="ko-KR" sz="1200" b="0"/>
                        <a:t>(mm/s)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35 / 50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가속도</a:t>
                      </a:r>
                      <a:r>
                        <a:rPr lang="en-US" altLang="ko-KR" sz="1200" b="0"/>
                        <a:t>(g)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2 / 3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362034"/>
                  </a:ext>
                </a:extLst>
              </a:tr>
              <a:tr h="5127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현상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 gridSpan="12">
                  <a:txBody>
                    <a:bodyPr/>
                    <a:lstStyle/>
                    <a:p>
                      <a:pPr rtl="0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진동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값이 약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10~12 mm/s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수준으로 장기간 높게 운전 中</a:t>
                      </a:r>
                      <a:endParaRPr lang="en-US" altLang="ko-KR" sz="12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rtl="0"/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측보다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MOTOR DE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측 진동이 상대적으로 크게 나타남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087191"/>
                  </a:ext>
                </a:extLst>
              </a:tr>
              <a:tr h="243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진단결과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F4"/>
                    </a:solidFill>
                  </a:tcPr>
                </a:tc>
                <a:tc gridSpan="12">
                  <a:txBody>
                    <a:bodyPr/>
                    <a:lstStyle/>
                    <a:p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 MOTOR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회전주파수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1x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성분에 따른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불평형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(Unbalance)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377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17D2015-A5E6-4D32-33E8-307D621E8EFF}"/>
              </a:ext>
            </a:extLst>
          </p:cNvPr>
          <p:cNvSpPr txBox="1"/>
          <p:nvPr/>
        </p:nvSpPr>
        <p:spPr>
          <a:xfrm>
            <a:off x="137608" y="2891305"/>
            <a:ext cx="48208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>
                <a:solidFill>
                  <a:schemeClr val="tx1"/>
                </a:solidFill>
                <a:latin typeface="+mn-ea"/>
                <a:ea typeface="+mn-ea"/>
              </a:rPr>
              <a:t>RMS</a:t>
            </a:r>
            <a:r>
              <a:rPr lang="ko-KR" altLang="en-US" sz="1100">
                <a:solidFill>
                  <a:schemeClr val="tx1"/>
                </a:solidFill>
                <a:latin typeface="+mn-ea"/>
                <a:ea typeface="+mn-ea"/>
              </a:rPr>
              <a:t>값 </a:t>
            </a:r>
            <a:r>
              <a:rPr lang="en-US" altLang="ko-KR" sz="1100">
                <a:solidFill>
                  <a:schemeClr val="tx1"/>
                </a:solidFill>
                <a:latin typeface="+mn-ea"/>
                <a:ea typeface="+mn-ea"/>
              </a:rPr>
              <a:t>10~12mm/s </a:t>
            </a:r>
            <a:r>
              <a:rPr lang="ko-KR" altLang="en-US" sz="1100">
                <a:solidFill>
                  <a:schemeClr val="tx1"/>
                </a:solidFill>
                <a:latin typeface="+mn-ea"/>
                <a:ea typeface="+mn-ea"/>
              </a:rPr>
              <a:t>수준으로 장기간 높게 운전 中</a:t>
            </a:r>
            <a:endParaRPr lang="en-US" altLang="ko-KR" sz="110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ko-KR" sz="1100">
                <a:latin typeface="+mn-ea"/>
                <a:ea typeface="+mj-ea"/>
              </a:rPr>
              <a:t>  -. Motor</a:t>
            </a:r>
            <a:r>
              <a:rPr lang="ko-KR" altLang="en-US" sz="1100">
                <a:latin typeface="+mn-ea"/>
                <a:ea typeface="+mj-ea"/>
              </a:rPr>
              <a:t> </a:t>
            </a:r>
            <a:r>
              <a:rPr lang="en-US" altLang="ko-KR" sz="1100">
                <a:latin typeface="+mn-ea"/>
                <a:ea typeface="+mj-ea"/>
              </a:rPr>
              <a:t>DE</a:t>
            </a:r>
            <a:r>
              <a:rPr lang="ko-KR" altLang="en-US" sz="1100">
                <a:latin typeface="+mn-ea"/>
                <a:ea typeface="+mj-ea"/>
              </a:rPr>
              <a:t> </a:t>
            </a:r>
            <a:r>
              <a:rPr lang="en-US" altLang="ko-KR" sz="1100">
                <a:latin typeface="+mn-ea"/>
                <a:ea typeface="+mj-ea"/>
              </a:rPr>
              <a:t>-&gt;</a:t>
            </a:r>
            <a:r>
              <a:rPr lang="ko-KR" altLang="en-US" sz="1100">
                <a:latin typeface="+mn-ea"/>
                <a:ea typeface="+mj-ea"/>
              </a:rPr>
              <a:t> </a:t>
            </a:r>
            <a:r>
              <a:rPr lang="en-US" altLang="ko-KR" sz="1100">
                <a:latin typeface="+mn-ea"/>
                <a:ea typeface="+mj-ea"/>
              </a:rPr>
              <a:t>FAN</a:t>
            </a:r>
            <a:r>
              <a:rPr lang="ko-KR" altLang="en-US" sz="1100">
                <a:latin typeface="+mn-ea"/>
                <a:ea typeface="+mj-ea"/>
              </a:rPr>
              <a:t> </a:t>
            </a:r>
            <a:r>
              <a:rPr lang="en-US" altLang="ko-KR" sz="1100">
                <a:latin typeface="+mn-ea"/>
                <a:ea typeface="+mj-ea"/>
              </a:rPr>
              <a:t>DS</a:t>
            </a:r>
            <a:r>
              <a:rPr lang="ko-KR" altLang="en-US" sz="1100">
                <a:latin typeface="+mn-ea"/>
                <a:ea typeface="+mj-ea"/>
              </a:rPr>
              <a:t> </a:t>
            </a:r>
            <a:r>
              <a:rPr lang="en-US" altLang="ko-KR" sz="1100">
                <a:latin typeface="+mn-ea"/>
                <a:ea typeface="+mj-ea"/>
              </a:rPr>
              <a:t>-&gt;</a:t>
            </a:r>
            <a:r>
              <a:rPr lang="ko-KR" altLang="en-US" sz="1100">
                <a:latin typeface="+mn-ea"/>
                <a:ea typeface="+mj-ea"/>
              </a:rPr>
              <a:t> </a:t>
            </a:r>
            <a:r>
              <a:rPr lang="en-US" altLang="ko-KR" sz="1100">
                <a:latin typeface="+mn-ea"/>
                <a:ea typeface="+mj-ea"/>
              </a:rPr>
              <a:t>FAN WS </a:t>
            </a:r>
            <a:r>
              <a:rPr lang="ko-KR" altLang="en-US" sz="1100">
                <a:latin typeface="+mn-ea"/>
                <a:ea typeface="+mj-ea"/>
              </a:rPr>
              <a:t>순으로 진폭이 높음</a:t>
            </a:r>
            <a:endParaRPr lang="en-US" altLang="ko-KR" sz="1100"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D9242A-90B3-CE34-7E3B-91DA17AD8D6C}"/>
              </a:ext>
            </a:extLst>
          </p:cNvPr>
          <p:cNvSpPr txBox="1"/>
          <p:nvPr/>
        </p:nvSpPr>
        <p:spPr>
          <a:xfrm>
            <a:off x="5016694" y="2859769"/>
            <a:ext cx="4697978" cy="749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1" spc="-30">
                <a:latin typeface="+mn-ea"/>
              </a:rPr>
              <a:t>주파수 분석 </a:t>
            </a:r>
            <a:r>
              <a:rPr lang="en-US" altLang="ko-KR" sz="1000" b="1" spc="-30">
                <a:latin typeface="+mn-ea"/>
              </a:rPr>
              <a:t>: MOTOR </a:t>
            </a:r>
            <a:r>
              <a:rPr lang="ko-KR" altLang="en-US" sz="1000" b="1" spc="-30">
                <a:latin typeface="+mn-ea"/>
              </a:rPr>
              <a:t>불평형</a:t>
            </a:r>
            <a:r>
              <a:rPr lang="en-US" altLang="ko-KR" sz="1000" b="1" spc="-30">
                <a:latin typeface="+mn-ea"/>
              </a:rPr>
              <a:t>(Unbalance)</a:t>
            </a:r>
            <a:endParaRPr lang="en-US" altLang="ko-KR" sz="10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rtl="0" fontAlgn="ctr"/>
            <a:r>
              <a:rPr lang="ko-KR" altLang="en-US" sz="1200" b="1" spc="-30">
                <a:solidFill>
                  <a:srgbClr val="0000FF"/>
                </a:solidFill>
                <a:latin typeface="+mn-ea"/>
              </a:rPr>
              <a:t>☞</a:t>
            </a:r>
            <a:r>
              <a:rPr lang="ko-KR" altLang="en-US" sz="1000" b="1" spc="-3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spc="-3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Motor</a:t>
            </a:r>
            <a:r>
              <a:rPr lang="ko-KR" altLang="en-US" sz="100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베이스</a:t>
            </a:r>
            <a:r>
              <a:rPr lang="en-US" altLang="ko-KR" sz="100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앵커볼트</a:t>
            </a:r>
            <a:r>
              <a:rPr lang="en-US" altLang="ko-KR" sz="10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베어링 하우징 체결상태</a:t>
            </a:r>
            <a:r>
              <a:rPr lang="en-US" altLang="ko-KR" sz="10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 </a:t>
            </a:r>
            <a:r>
              <a:rPr lang="ko-KR" altLang="en-US" sz="1000" b="0" i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커플링 정렬상태 점검</a:t>
            </a:r>
            <a:endParaRPr lang="ko-KR" altLang="en-US" sz="1000" b="0" i="0"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C514A66-54B6-801A-58E6-942DB447A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59" y="3322191"/>
            <a:ext cx="4427513" cy="330335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965B117-1CDC-5FAF-D82C-E6DA1F62C6D6}"/>
              </a:ext>
            </a:extLst>
          </p:cNvPr>
          <p:cNvSpPr/>
          <p:nvPr/>
        </p:nvSpPr>
        <p:spPr>
          <a:xfrm>
            <a:off x="4384800" y="6105600"/>
            <a:ext cx="216000" cy="1857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B8245E-E7EC-4788-01E2-54AC2AC62E34}"/>
              </a:ext>
            </a:extLst>
          </p:cNvPr>
          <p:cNvSpPr/>
          <p:nvPr/>
        </p:nvSpPr>
        <p:spPr>
          <a:xfrm>
            <a:off x="1491600" y="3888000"/>
            <a:ext cx="1654800" cy="151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6018EEC-5DC0-A05A-958E-EAFDBEC16B06}"/>
              </a:ext>
            </a:extLst>
          </p:cNvPr>
          <p:cNvCxnSpPr/>
          <p:nvPr/>
        </p:nvCxnSpPr>
        <p:spPr>
          <a:xfrm flipH="1" flipV="1">
            <a:off x="2930400" y="4039200"/>
            <a:ext cx="1454400" cy="2066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E4FB4881-8EA8-CA2B-5A2E-ABFA7A747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243" y="3429000"/>
            <a:ext cx="4362298" cy="3196550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74F328C2-8441-1527-878F-5A2A5CC77D2F}"/>
              </a:ext>
            </a:extLst>
          </p:cNvPr>
          <p:cNvSpPr/>
          <p:nvPr/>
        </p:nvSpPr>
        <p:spPr>
          <a:xfrm>
            <a:off x="5720911" y="5732149"/>
            <a:ext cx="121720" cy="879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1E936-83CF-421C-0F22-9E2B8FFD0D24}"/>
              </a:ext>
            </a:extLst>
          </p:cNvPr>
          <p:cNvSpPr txBox="1"/>
          <p:nvPr/>
        </p:nvSpPr>
        <p:spPr>
          <a:xfrm>
            <a:off x="5317838" y="5467978"/>
            <a:ext cx="19399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회전주파수 </a:t>
            </a:r>
            <a:r>
              <a:rPr lang="en-US" altLang="ko-KR" sz="1000">
                <a:highlight>
                  <a:srgbClr val="FFFF00"/>
                </a:highlight>
              </a:rPr>
              <a:t>1x (59.6Hz, 15mm/s)</a:t>
            </a:r>
            <a:endParaRPr lang="ko-KR" altLang="en-US" sz="10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818693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509</TotalTime>
  <Words>159</Words>
  <Application>Microsoft Office PowerPoint</Application>
  <PresentationFormat>A4 용지(210x297mm)</PresentationFormat>
  <Paragraphs>39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Wingdings</vt:lpstr>
      <vt:lpstr>Default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최상준(Choi Sangjun)_계장_(포항)설비기술부</dc:creator>
  <cp:lastModifiedBy>최상준(Choi Sangjun)_계장_(포항)설비기술부</cp:lastModifiedBy>
  <cp:revision>48</cp:revision>
  <dcterms:created xsi:type="dcterms:W3CDTF">2026-06-03T00:41:54Z</dcterms:created>
  <dcterms:modified xsi:type="dcterms:W3CDTF">2026-08-11T07:22:07Z</dcterms:modified>
</cp:coreProperties>
</file>