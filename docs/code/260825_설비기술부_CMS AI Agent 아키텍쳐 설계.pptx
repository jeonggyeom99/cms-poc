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9" r:id="rId3"/>
    <p:sldMasterId id="2147483670" r:id="rId4"/>
    <p:sldMasterId id="2147483681" r:id="rId5"/>
    <p:sldMasterId id="2147483687" r:id="rId6"/>
    <p:sldMasterId id="2147483690" r:id="rId7"/>
  </p:sldMasterIdLst>
  <p:notesMasterIdLst>
    <p:notesMasterId r:id="rId19"/>
  </p:notesMasterIdLst>
  <p:sldIdLst>
    <p:sldId id="256" r:id="rId8"/>
    <p:sldId id="257" r:id="rId9"/>
    <p:sldId id="258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0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659" userDrawn="1">
          <p15:clr>
            <a:srgbClr val="A4A3A4"/>
          </p15:clr>
        </p15:guide>
        <p15:guide id="3" orient="horz" pos="1026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pos="116" userDrawn="1">
          <p15:clr>
            <a:srgbClr val="A4A3A4"/>
          </p15:clr>
        </p15:guide>
        <p15:guide id="6" pos="159" userDrawn="1">
          <p15:clr>
            <a:srgbClr val="A4A3A4"/>
          </p15:clr>
        </p15:guide>
        <p15:guide id="7" pos="5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EB4E3"/>
    <a:srgbClr val="C00000"/>
    <a:srgbClr val="B9CDE5"/>
    <a:srgbClr val="095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08" autoAdjust="0"/>
    <p:restoredTop sz="94647" autoAdjust="0"/>
  </p:normalViewPr>
  <p:slideViewPr>
    <p:cSldViewPr>
      <p:cViewPr varScale="1">
        <p:scale>
          <a:sx n="150" d="100"/>
          <a:sy n="150" d="100"/>
        </p:scale>
        <p:origin x="5316" y="126"/>
      </p:cViewPr>
      <p:guideLst>
        <p:guide orient="horz" pos="2160"/>
        <p:guide orient="horz" pos="2659"/>
        <p:guide orient="horz" pos="1026"/>
        <p:guide orient="horz" pos="799"/>
        <p:guide pos="116"/>
        <p:guide pos="159"/>
        <p:guide pos="5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5D063-6AE3-4296-8563-A45FC405100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50FA3-A523-420B-AFBD-F6DF34436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32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50FA3-A523-420B-AFBD-F6DF34436FA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332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4F9F1-64F1-0796-4407-9E836A03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DAFA69-A2C4-84A9-5C14-D0B69D0D9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9E11DA-E0F1-E113-4834-4042B967B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5D4730-C1AF-0445-3BAD-298CCF7F6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50FA3-A523-420B-AFBD-F6DF34436FA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5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18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76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1pPr>
            <a:lvl2pPr marL="422041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0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67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0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58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93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313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3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44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145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2884" cy="6858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63" y="6215307"/>
            <a:ext cx="1476000" cy="386873"/>
          </a:xfrm>
          <a:prstGeom prst="rect">
            <a:avLst/>
          </a:prstGeom>
        </p:spPr>
      </p:pic>
      <p:sp>
        <p:nvSpPr>
          <p:cNvPr id="14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49924" y="2060849"/>
            <a:ext cx="3622530" cy="546945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l">
              <a:buNone/>
              <a:defRPr lang="en-US" altLang="ko-KR" baseline="0" dirty="0" smtClean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>
                <a:solidFill>
                  <a:srgbClr val="09507D"/>
                </a:solidFill>
                <a:latin typeface="+mj-lt"/>
                <a:ea typeface="HY견고딕" pitchFamily="18" charset="-127"/>
              </a:rPr>
              <a:t>Sub Title Goes Here</a:t>
            </a: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0" hasCustomPrompt="1"/>
          </p:nvPr>
        </p:nvSpPr>
        <p:spPr>
          <a:xfrm>
            <a:off x="849924" y="4221164"/>
            <a:ext cx="1425903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marR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62" baseline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20YY.MM.DD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849923" y="1268761"/>
            <a:ext cx="5018618" cy="66050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lang="en-US" altLang="ko-KR" sz="3692" b="1" smtClean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en-US" altLang="ko-KR" sz="3692" b="1" dirty="0">
                <a:solidFill>
                  <a:srgbClr val="09507D"/>
                </a:solidFill>
                <a:latin typeface="+mj-lt"/>
                <a:ea typeface="HY견고딕" pitchFamily="18" charset="-127"/>
              </a:rPr>
              <a:t>Head Title Goes Here</a:t>
            </a:r>
            <a:endParaRPr lang="ko-KR" altLang="en-US" dirty="0"/>
          </a:p>
        </p:txBody>
      </p:sp>
      <p:sp>
        <p:nvSpPr>
          <p:cNvPr id="7" name="텍스트 개체 틀 18"/>
          <p:cNvSpPr>
            <a:spLocks noGrp="1"/>
          </p:cNvSpPr>
          <p:nvPr>
            <p:ph type="body" sz="quarter" idx="12" hasCustomPrompt="1"/>
          </p:nvPr>
        </p:nvSpPr>
        <p:spPr>
          <a:xfrm>
            <a:off x="849923" y="4610734"/>
            <a:ext cx="1510350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marR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62" baseline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Name / Dept.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4632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PPT-A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184638" y="164760"/>
            <a:ext cx="2889124" cy="43319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215" b="1" baseline="0">
                <a:solidFill>
                  <a:srgbClr val="09507D"/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570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PT-A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70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3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49924" y="2430689"/>
            <a:ext cx="3622530" cy="546945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l">
              <a:buNone/>
              <a:defRPr lang="en-US" altLang="ko-KR" baseline="0" dirty="0" smtClean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>
                <a:solidFill>
                  <a:srgbClr val="09507D"/>
                </a:solidFill>
                <a:latin typeface="+mj-lt"/>
                <a:ea typeface="HY견고딕" pitchFamily="18" charset="-127"/>
              </a:rPr>
              <a:t>Sub Title Goes Here</a:t>
            </a:r>
          </a:p>
        </p:txBody>
      </p:sp>
      <p:sp>
        <p:nvSpPr>
          <p:cNvPr id="32" name="텍스트 개체 틀 18"/>
          <p:cNvSpPr>
            <a:spLocks noGrp="1"/>
          </p:cNvSpPr>
          <p:nvPr>
            <p:ph type="body" sz="quarter" idx="10" hasCustomPrompt="1"/>
          </p:nvPr>
        </p:nvSpPr>
        <p:spPr>
          <a:xfrm>
            <a:off x="849924" y="4221164"/>
            <a:ext cx="1425903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marR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62" baseline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20YY.MM.DD</a:t>
            </a:r>
          </a:p>
        </p:txBody>
      </p:sp>
      <p:sp>
        <p:nvSpPr>
          <p:cNvPr id="33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849923" y="1638601"/>
            <a:ext cx="5018618" cy="66050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lang="en-US" altLang="ko-KR" sz="3692" b="1" smtClean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en-US" altLang="ko-KR" sz="3692" b="1" dirty="0">
                <a:solidFill>
                  <a:srgbClr val="09507D"/>
                </a:solidFill>
                <a:latin typeface="+mj-lt"/>
                <a:ea typeface="HY견고딕" pitchFamily="18" charset="-127"/>
              </a:rPr>
              <a:t>Head Title Goes Here</a:t>
            </a:r>
            <a:endParaRPr lang="ko-KR" altLang="en-US" dirty="0"/>
          </a:p>
        </p:txBody>
      </p:sp>
      <p:sp>
        <p:nvSpPr>
          <p:cNvPr id="34" name="텍스트 개체 틀 18"/>
          <p:cNvSpPr>
            <a:spLocks noGrp="1"/>
          </p:cNvSpPr>
          <p:nvPr>
            <p:ph type="body" sz="quarter" idx="12" hasCustomPrompt="1"/>
          </p:nvPr>
        </p:nvSpPr>
        <p:spPr>
          <a:xfrm>
            <a:off x="849923" y="4610734"/>
            <a:ext cx="1510350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marR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62" baseline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Name / Dept.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55" y="292179"/>
            <a:ext cx="1476000" cy="38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37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PT-B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184638" y="164760"/>
            <a:ext cx="2889124" cy="43319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215" b="1" baseline="0">
                <a:solidFill>
                  <a:srgbClr val="09507D"/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63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PPT-B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53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2884" cy="6858000"/>
          </a:xfrm>
          <a:prstGeom prst="rect">
            <a:avLst/>
          </a:prstGeom>
        </p:spPr>
      </p:pic>
      <p:sp>
        <p:nvSpPr>
          <p:cNvPr id="5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49924" y="2430689"/>
            <a:ext cx="3622530" cy="546945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l">
              <a:buNone/>
              <a:defRPr lang="en-US" altLang="ko-KR" baseline="0" dirty="0" smtClean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>
                <a:solidFill>
                  <a:srgbClr val="09507D"/>
                </a:solidFill>
                <a:latin typeface="+mj-lt"/>
                <a:ea typeface="HY견고딕" pitchFamily="18" charset="-127"/>
              </a:rPr>
              <a:t>Sub Title Goes Here</a:t>
            </a:r>
          </a:p>
        </p:txBody>
      </p:sp>
      <p:sp>
        <p:nvSpPr>
          <p:cNvPr id="6" name="텍스트 개체 틀 18"/>
          <p:cNvSpPr>
            <a:spLocks noGrp="1"/>
          </p:cNvSpPr>
          <p:nvPr>
            <p:ph type="body" sz="quarter" idx="10" hasCustomPrompt="1"/>
          </p:nvPr>
        </p:nvSpPr>
        <p:spPr>
          <a:xfrm>
            <a:off x="849924" y="4221164"/>
            <a:ext cx="1425903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marR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62" baseline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20YY.MM.DD</a:t>
            </a:r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849923" y="1638601"/>
            <a:ext cx="5018618" cy="66050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lang="en-US" altLang="ko-KR" sz="3692" b="1" smtClean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en-US" altLang="ko-KR" sz="3692" b="1" dirty="0">
                <a:solidFill>
                  <a:srgbClr val="09507D"/>
                </a:solidFill>
                <a:latin typeface="+mj-lt"/>
                <a:ea typeface="HY견고딕" pitchFamily="18" charset="-127"/>
              </a:rPr>
              <a:t>Head Title Goes Here</a:t>
            </a:r>
            <a:endParaRPr lang="ko-KR" altLang="en-US" dirty="0"/>
          </a:p>
        </p:txBody>
      </p:sp>
      <p:sp>
        <p:nvSpPr>
          <p:cNvPr id="8" name="텍스트 개체 틀 18"/>
          <p:cNvSpPr>
            <a:spLocks noGrp="1"/>
          </p:cNvSpPr>
          <p:nvPr>
            <p:ph type="body" sz="quarter" idx="12" hasCustomPrompt="1"/>
          </p:nvPr>
        </p:nvSpPr>
        <p:spPr>
          <a:xfrm>
            <a:off x="849923" y="4610734"/>
            <a:ext cx="1510350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marR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62" baseline="0">
                <a:solidFill>
                  <a:srgbClr val="09507D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Name / Dept.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290" y="404664"/>
            <a:ext cx="1476000" cy="38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652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PPT-C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184638" y="404664"/>
            <a:ext cx="2889124" cy="43319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215" b="1" baseline="0">
                <a:solidFill>
                  <a:srgbClr val="09507D"/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39047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PPT-C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426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작업방\ECM\템플릿\새 폴더 (2)\[수정] ecm템플릿\새템플릿\시안01\pptBg_시안01_메인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970955" y="3687316"/>
            <a:ext cx="3573414" cy="490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sz="2585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Head Title Goes Here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970955" y="4202039"/>
            <a:ext cx="2122889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662" b="0" baseline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indent="0">
              <a:buNone/>
            </a:pPr>
            <a:r>
              <a:rPr lang="en-US" altLang="ko-KR" dirty="0"/>
              <a:t>Sub Title Goes Here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 hasCustomPrompt="1"/>
          </p:nvPr>
        </p:nvSpPr>
        <p:spPr>
          <a:xfrm>
            <a:off x="970956" y="4834469"/>
            <a:ext cx="1290481" cy="31963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477" b="0" baseline="0" dirty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indent="0">
              <a:buNone/>
            </a:pPr>
            <a:r>
              <a:rPr lang="en-US" altLang="ko-KR" dirty="0"/>
              <a:t>20YY.MM.DD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970955" y="5136318"/>
            <a:ext cx="1362874" cy="31963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477" b="0" baseline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indent="0">
              <a:buNone/>
            </a:pPr>
            <a:r>
              <a:rPr lang="en-US" altLang="ko-KR" dirty="0"/>
              <a:t>Name / Dept.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15046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작업방\ECM\템플릿\새 폴더 (2)\[수정] ecm템플릿\새템플릿\시안01\pptBg_시안01_서브0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607662" y="231032"/>
            <a:ext cx="2889124" cy="43319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215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496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작업방\ECM\템플릿\새 폴더 (2)\[수정] ecm템플릿\새템플릿\시안01\pptBg_시안01_서브0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237805" y="126157"/>
            <a:ext cx="2445349" cy="37638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1846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446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작업방\ECM\템플릿\새 폴더 (2)\[수정] ecm템플릿\새템플릿\시안01\pptBg_시안01_서브03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607662" y="231032"/>
            <a:ext cx="2889124" cy="43319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215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3270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작업방\ECM\템플릿\새 폴더 (2)\[수정] ecm템플릿\새템플릿\시안01\pptBg_시안01_서브04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417995" y="441591"/>
            <a:ext cx="2445349" cy="37638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1846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9223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작업방\ECM\템플릿\새 폴더 (2)\[수정] ecm템플릿\새템플릿\시안02\pptBg_시안02_메인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970955" y="1967632"/>
            <a:ext cx="3573414" cy="490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sz="258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Head Title Goes Here</a:t>
            </a:r>
            <a:endParaRPr lang="ko-KR" altLang="en-US" dirty="0"/>
          </a:p>
        </p:txBody>
      </p:sp>
      <p:sp>
        <p:nvSpPr>
          <p:cNvPr id="4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970955" y="2533155"/>
            <a:ext cx="2122889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662" b="0" baseline="0" smtClean="0">
                <a:solidFill>
                  <a:schemeClr val="bg1"/>
                </a:solidFill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indent="0">
              <a:buNone/>
            </a:pPr>
            <a:r>
              <a:rPr lang="en-US" altLang="ko-KR" dirty="0"/>
              <a:t>Sub Title Goes Here</a:t>
            </a:r>
            <a:endParaRPr lang="ko-KR" altLang="en-US" dirty="0"/>
          </a:p>
        </p:txBody>
      </p:sp>
      <p:sp>
        <p:nvSpPr>
          <p:cNvPr id="5" name="텍스트 개체 틀 10"/>
          <p:cNvSpPr>
            <a:spLocks noGrp="1"/>
          </p:cNvSpPr>
          <p:nvPr>
            <p:ph type="body" sz="quarter" idx="12" hasCustomPrompt="1"/>
          </p:nvPr>
        </p:nvSpPr>
        <p:spPr>
          <a:xfrm>
            <a:off x="970956" y="5517233"/>
            <a:ext cx="1425903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662" b="0" baseline="0" dirty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indent="0">
              <a:buNone/>
            </a:pPr>
            <a:r>
              <a:rPr lang="en-US" altLang="ko-KR" dirty="0"/>
              <a:t>20YY.MM.DD</a:t>
            </a:r>
            <a:endParaRPr lang="ko-KR" altLang="en-US" dirty="0"/>
          </a:p>
        </p:txBody>
      </p:sp>
      <p:sp>
        <p:nvSpPr>
          <p:cNvPr id="6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970955" y="5819082"/>
            <a:ext cx="1510350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662" b="0" baseline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indent="0">
              <a:buNone/>
            </a:pPr>
            <a:r>
              <a:rPr lang="en-US" altLang="ko-KR" dirty="0"/>
              <a:t>Name / Dept.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87274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작업방\ECM\템플릿\새 폴더 (2)\[수정] ecm템플릿\새템플릿\시안02\pptBg_시안02_서브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264399" y="332068"/>
            <a:ext cx="2889124" cy="43319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215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31873" y="6476827"/>
            <a:ext cx="284193" cy="365125"/>
          </a:xfrm>
          <a:prstGeom prst="rect">
            <a:avLst/>
          </a:prstGeom>
        </p:spPr>
        <p:txBody>
          <a:bodyPr l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143C7705-4DD1-4744-9424-BFC0801951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562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D:\작업방\ECM\템플릿\새 폴더 (2)\[수정] ecm템플릿\새템플릿\시안03\pptBg_시안03_메인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2217659" y="2768228"/>
            <a:ext cx="3573414" cy="490134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sz="2585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Head Title Goes Here</a:t>
            </a:r>
            <a:endParaRPr lang="ko-KR" altLang="en-US" dirty="0"/>
          </a:p>
        </p:txBody>
      </p:sp>
      <p:sp>
        <p:nvSpPr>
          <p:cNvPr id="4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2217659" y="3282951"/>
            <a:ext cx="2122889" cy="34810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662" b="0" baseline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indent="0">
              <a:buNone/>
            </a:pPr>
            <a:r>
              <a:rPr lang="en-US" altLang="ko-KR" dirty="0"/>
              <a:t>Sub Title Goes Here</a:t>
            </a:r>
            <a:endParaRPr lang="ko-KR" altLang="en-US" dirty="0"/>
          </a:p>
        </p:txBody>
      </p:sp>
      <p:sp>
        <p:nvSpPr>
          <p:cNvPr id="5" name="텍스트 개체 틀 10"/>
          <p:cNvSpPr>
            <a:spLocks noGrp="1"/>
          </p:cNvSpPr>
          <p:nvPr>
            <p:ph type="body" sz="quarter" idx="12" hasCustomPrompt="1"/>
          </p:nvPr>
        </p:nvSpPr>
        <p:spPr>
          <a:xfrm>
            <a:off x="2217660" y="4029359"/>
            <a:ext cx="1290481" cy="31963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477" b="0" baseline="0" dirty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indent="0">
              <a:buNone/>
            </a:pPr>
            <a:r>
              <a:rPr lang="en-US" altLang="ko-KR" dirty="0"/>
              <a:t>20YY.MM.DD</a:t>
            </a:r>
            <a:endParaRPr lang="ko-KR" altLang="en-US" dirty="0"/>
          </a:p>
        </p:txBody>
      </p:sp>
      <p:sp>
        <p:nvSpPr>
          <p:cNvPr id="6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17659" y="4331209"/>
            <a:ext cx="1362874" cy="31963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ko-KR" altLang="en-US" sz="1477" b="0" baseline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lang="ko-KR" altLang="en-US" smtClean="0"/>
            </a:lvl2pPr>
            <a:lvl3pPr>
              <a:defRPr lang="ko-KR" altLang="en-US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indent="0">
              <a:buNone/>
            </a:pPr>
            <a:r>
              <a:rPr lang="en-US" altLang="ko-KR" dirty="0"/>
              <a:t>Name / Dept.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4054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작업방\ECM\템플릿\새 폴더 (2)\[수정] ecm템플릿\새템플릿\시안03\pptBg_시안03_서브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251001" y="476646"/>
            <a:ext cx="2889124" cy="43319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215" b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ko-KR" dirty="0"/>
              <a:t>Sub Title Goes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54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C9521-5CB1-4064-81E0-6FD79EBB1729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C7705-4DD1-4744-9424-BFC080195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97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91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38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9" r:id="rId2"/>
    <p:sldLayoutId id="2147483680" r:id="rId3"/>
  </p:sldLayoutIdLst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6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80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20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45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ctr" defTabSz="844083" rtl="0" eaLnBrk="1" latinLnBrk="1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1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1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873161-57DE-9A5E-F12F-CEBEEA365085}"/>
              </a:ext>
            </a:extLst>
          </p:cNvPr>
          <p:cNvSpPr/>
          <p:nvPr/>
        </p:nvSpPr>
        <p:spPr>
          <a:xfrm>
            <a:off x="6891133" y="260648"/>
            <a:ext cx="1785323" cy="43280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/>
              <a:t>진단결과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34A079-F3CD-5480-92A9-F92AF4361073}"/>
              </a:ext>
            </a:extLst>
          </p:cNvPr>
          <p:cNvSpPr/>
          <p:nvPr/>
        </p:nvSpPr>
        <p:spPr>
          <a:xfrm>
            <a:off x="3889890" y="5805264"/>
            <a:ext cx="1785323" cy="432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/>
              <a:t>시계열 </a:t>
            </a:r>
            <a:r>
              <a:rPr lang="en-US" altLang="ko-KR" sz="1400" b="1"/>
              <a:t>Data</a:t>
            </a:r>
            <a:endParaRPr lang="ko-KR" altLang="en-US" sz="14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A9627B-6A0D-A1B5-5307-A7BD0ECE7427}"/>
              </a:ext>
            </a:extLst>
          </p:cNvPr>
          <p:cNvSpPr/>
          <p:nvPr/>
        </p:nvSpPr>
        <p:spPr>
          <a:xfrm>
            <a:off x="6603101" y="5805264"/>
            <a:ext cx="1785323" cy="432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/>
              <a:t>진단결과 </a:t>
            </a:r>
            <a:r>
              <a:rPr lang="en-US" altLang="ko-KR" sz="1400" b="1"/>
              <a:t>/ </a:t>
            </a:r>
            <a:r>
              <a:rPr lang="ko-KR" altLang="en-US" sz="1400" b="1"/>
              <a:t>조치결과</a:t>
            </a:r>
            <a:endParaRPr lang="en-US" altLang="ko-KR" sz="1400" b="1"/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6DE997A2-603C-174F-8DE2-D9253CFD6FEC}"/>
              </a:ext>
            </a:extLst>
          </p:cNvPr>
          <p:cNvSpPr/>
          <p:nvPr/>
        </p:nvSpPr>
        <p:spPr>
          <a:xfrm>
            <a:off x="3882451" y="4149080"/>
            <a:ext cx="1800200" cy="720080"/>
          </a:xfrm>
          <a:prstGeom prst="flowChartDecisi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/>
              <a:t>Level</a:t>
            </a:r>
          </a:p>
          <a:p>
            <a:pPr algn="ctr"/>
            <a:r>
              <a:rPr lang="ko-KR" altLang="en-US" sz="1400" b="1"/>
              <a:t>적정성</a:t>
            </a: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F6FC416F-C734-989B-8E6F-7A9485D01A88}"/>
              </a:ext>
            </a:extLst>
          </p:cNvPr>
          <p:cNvSpPr/>
          <p:nvPr/>
        </p:nvSpPr>
        <p:spPr>
          <a:xfrm>
            <a:off x="3882451" y="2780928"/>
            <a:ext cx="1800200" cy="720080"/>
          </a:xfrm>
          <a:prstGeom prst="flowChartDecisi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/>
              <a:t>알람 발생</a:t>
            </a:r>
          </a:p>
        </p:txBody>
      </p:sp>
      <p:sp>
        <p:nvSpPr>
          <p:cNvPr id="10" name="순서도: 판단 9">
            <a:extLst>
              <a:ext uri="{FF2B5EF4-FFF2-40B4-BE49-F238E27FC236}">
                <a16:creationId xmlns:a16="http://schemas.microsoft.com/office/drawing/2014/main" id="{1B54EAD2-2CDA-2EBC-174D-5E4EDC1812CF}"/>
              </a:ext>
            </a:extLst>
          </p:cNvPr>
          <p:cNvSpPr/>
          <p:nvPr/>
        </p:nvSpPr>
        <p:spPr>
          <a:xfrm>
            <a:off x="3882451" y="1484784"/>
            <a:ext cx="1800200" cy="720080"/>
          </a:xfrm>
          <a:prstGeom prst="flowChartDecisi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/>
              <a:t>우상향</a:t>
            </a:r>
            <a:endParaRPr lang="en-US" altLang="ko-KR" sz="1400" b="1"/>
          </a:p>
          <a:p>
            <a:pPr algn="ctr"/>
            <a:r>
              <a:rPr lang="en-US" altLang="ko-KR" sz="1400" b="1"/>
              <a:t>(</a:t>
            </a:r>
            <a:r>
              <a:rPr lang="ko-KR" altLang="en-US" sz="1400" b="1"/>
              <a:t>기울기</a:t>
            </a:r>
            <a:r>
              <a:rPr lang="en-US" altLang="ko-KR" sz="1400" b="1"/>
              <a:t>)</a:t>
            </a:r>
            <a:endParaRPr lang="ko-KR" altLang="en-US" sz="1400" b="1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74897F-3CE9-8868-9BC6-ACA63144996F}"/>
              </a:ext>
            </a:extLst>
          </p:cNvPr>
          <p:cNvSpPr/>
          <p:nvPr/>
        </p:nvSpPr>
        <p:spPr>
          <a:xfrm>
            <a:off x="6372199" y="2924565"/>
            <a:ext cx="1188621" cy="4328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/>
              <a:t>  FFT </a:t>
            </a:r>
            <a:r>
              <a:rPr lang="ko-KR" altLang="en-US" sz="1400" b="1"/>
              <a:t>분석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E63AEF-3359-E173-E096-C89AFF9B6F87}"/>
              </a:ext>
            </a:extLst>
          </p:cNvPr>
          <p:cNvSpPr/>
          <p:nvPr/>
        </p:nvSpPr>
        <p:spPr>
          <a:xfrm>
            <a:off x="2265708" y="1628422"/>
            <a:ext cx="832866" cy="4328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/>
              <a:t>종료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25DB4D-6687-D58E-3380-F5FF0BDE922C}"/>
              </a:ext>
            </a:extLst>
          </p:cNvPr>
          <p:cNvSpPr/>
          <p:nvPr/>
        </p:nvSpPr>
        <p:spPr>
          <a:xfrm>
            <a:off x="1907704" y="4292718"/>
            <a:ext cx="1548875" cy="4328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/>
              <a:t>적정 </a:t>
            </a:r>
            <a:r>
              <a:rPr lang="en-US" altLang="ko-KR" sz="1400" b="1"/>
              <a:t>Level </a:t>
            </a:r>
            <a:r>
              <a:rPr lang="ko-KR" altLang="en-US" sz="1400" b="1"/>
              <a:t>제안</a:t>
            </a:r>
            <a:endParaRPr lang="en-US" altLang="ko-KR" sz="14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3C4A27-A67B-305C-0588-1115AFA3DB64}"/>
              </a:ext>
            </a:extLst>
          </p:cNvPr>
          <p:cNvSpPr txBox="1"/>
          <p:nvPr/>
        </p:nvSpPr>
        <p:spPr>
          <a:xfrm>
            <a:off x="301678" y="328085"/>
            <a:ext cx="1314341" cy="3240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DashBoard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8BCA3-1B5D-083F-A1AD-0F3DF680556D}"/>
              </a:ext>
            </a:extLst>
          </p:cNvPr>
          <p:cNvSpPr txBox="1"/>
          <p:nvPr/>
        </p:nvSpPr>
        <p:spPr>
          <a:xfrm>
            <a:off x="301678" y="2266407"/>
            <a:ext cx="1314341" cy="324000"/>
          </a:xfrm>
          <a:prstGeom prst="rect">
            <a:avLst/>
          </a:prstGeom>
          <a:solidFill>
            <a:schemeClr val="accent4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Model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FE1FD-CFCE-E599-8C37-157B5451BBA0}"/>
              </a:ext>
            </a:extLst>
          </p:cNvPr>
          <p:cNvSpPr txBox="1"/>
          <p:nvPr/>
        </p:nvSpPr>
        <p:spPr>
          <a:xfrm>
            <a:off x="301678" y="5872701"/>
            <a:ext cx="1314341" cy="32400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Input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B601A33-A53D-EAFD-5E32-3B9D8D45A287}"/>
              </a:ext>
            </a:extLst>
          </p:cNvPr>
          <p:cNvCxnSpPr>
            <a:cxnSpLocks/>
          </p:cNvCxnSpPr>
          <p:nvPr/>
        </p:nvCxnSpPr>
        <p:spPr>
          <a:xfrm>
            <a:off x="246262" y="1048166"/>
            <a:ext cx="871668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1BCC1E-D07D-0158-6DEC-E4F1A5011ECF}"/>
              </a:ext>
            </a:extLst>
          </p:cNvPr>
          <p:cNvCxnSpPr>
            <a:cxnSpLocks/>
          </p:cNvCxnSpPr>
          <p:nvPr/>
        </p:nvCxnSpPr>
        <p:spPr>
          <a:xfrm>
            <a:off x="246262" y="5445224"/>
            <a:ext cx="871668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6B5DB47-3EA4-45FC-AECF-ACC7360FFBC3}"/>
              </a:ext>
            </a:extLst>
          </p:cNvPr>
          <p:cNvCxnSpPr>
            <a:stCxn id="3" idx="0"/>
            <a:endCxn id="8" idx="2"/>
          </p:cNvCxnSpPr>
          <p:nvPr/>
        </p:nvCxnSpPr>
        <p:spPr>
          <a:xfrm flipH="1" flipV="1">
            <a:off x="4782551" y="4869160"/>
            <a:ext cx="1" cy="936104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C237BA5-40F0-AD81-A514-4554CF417609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4782551" y="3501008"/>
            <a:ext cx="0" cy="64807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0040852-9F9E-E5FB-53C2-376C998AF835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V="1">
            <a:off x="4782551" y="2204864"/>
            <a:ext cx="0" cy="576064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5C748A3-8560-0359-083D-B9E9BB0BEE8B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682651" y="3140968"/>
            <a:ext cx="68954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D30794E-AF20-4CD2-2ADF-7DD42C9F9963}"/>
              </a:ext>
            </a:extLst>
          </p:cNvPr>
          <p:cNvCxnSpPr>
            <a:cxnSpLocks/>
            <a:stCxn id="8" idx="1"/>
            <a:endCxn id="13" idx="3"/>
          </p:cNvCxnSpPr>
          <p:nvPr/>
        </p:nvCxnSpPr>
        <p:spPr>
          <a:xfrm flipH="1">
            <a:off x="3456579" y="4509120"/>
            <a:ext cx="425872" cy="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AB13D3DD-4D54-422E-2FB8-B1983BBE32EC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>
            <a:off x="5682651" y="1844824"/>
            <a:ext cx="1283859" cy="1079741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2A46D3E-EFB1-6E50-2763-F1DC1F8E59C4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3098574" y="1844824"/>
            <a:ext cx="783877" cy="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B3C86E81-5484-F42A-BF36-BA1A5B875892}"/>
              </a:ext>
            </a:extLst>
          </p:cNvPr>
          <p:cNvCxnSpPr>
            <a:cxnSpLocks/>
            <a:stCxn id="11" idx="3"/>
            <a:endCxn id="2" idx="2"/>
          </p:cNvCxnSpPr>
          <p:nvPr/>
        </p:nvCxnSpPr>
        <p:spPr>
          <a:xfrm flipV="1">
            <a:off x="7560820" y="693453"/>
            <a:ext cx="222975" cy="2447515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FFD21814-47A4-82A6-EE9A-39F409030A04}"/>
              </a:ext>
            </a:extLst>
          </p:cNvPr>
          <p:cNvSpPr/>
          <p:nvPr/>
        </p:nvSpPr>
        <p:spPr>
          <a:xfrm>
            <a:off x="7750605" y="1402880"/>
            <a:ext cx="72000" cy="72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3CCCD1F7-F798-502D-B39E-A6543D3C9F3E}"/>
              </a:ext>
            </a:extLst>
          </p:cNvPr>
          <p:cNvCxnSpPr>
            <a:cxnSpLocks/>
            <a:stCxn id="6" idx="3"/>
            <a:endCxn id="52" idx="6"/>
          </p:cNvCxnSpPr>
          <p:nvPr/>
        </p:nvCxnSpPr>
        <p:spPr>
          <a:xfrm flipH="1" flipV="1">
            <a:off x="7822605" y="1438880"/>
            <a:ext cx="565819" cy="4582787"/>
          </a:xfrm>
          <a:prstGeom prst="bentConnector3">
            <a:avLst>
              <a:gd name="adj1" fmla="val -40402"/>
            </a:avLst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5381158-6EAB-F54C-C50B-A278EE1ED33A}"/>
              </a:ext>
            </a:extLst>
          </p:cNvPr>
          <p:cNvSpPr txBox="1"/>
          <p:nvPr/>
        </p:nvSpPr>
        <p:spPr>
          <a:xfrm>
            <a:off x="3490512" y="4267834"/>
            <a:ext cx="522778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100"/>
              <a:t>비정상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59655-D594-5BFD-86A1-C77CC7BAE77E}"/>
              </a:ext>
            </a:extLst>
          </p:cNvPr>
          <p:cNvSpPr txBox="1"/>
          <p:nvPr/>
        </p:nvSpPr>
        <p:spPr>
          <a:xfrm>
            <a:off x="4807074" y="3979803"/>
            <a:ext cx="39277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100"/>
              <a:t>정상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1D8A6-8CAB-4DF1-D6C8-BE86CD76063B}"/>
              </a:ext>
            </a:extLst>
          </p:cNvPr>
          <p:cNvSpPr txBox="1"/>
          <p:nvPr/>
        </p:nvSpPr>
        <p:spPr>
          <a:xfrm>
            <a:off x="4788024" y="2573760"/>
            <a:ext cx="39277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100"/>
              <a:t>N</a:t>
            </a:r>
            <a:endParaRPr lang="ko-KR" alt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D52BC2-BB03-B56C-821B-53BFBAE34611}"/>
              </a:ext>
            </a:extLst>
          </p:cNvPr>
          <p:cNvSpPr txBox="1"/>
          <p:nvPr/>
        </p:nvSpPr>
        <p:spPr>
          <a:xfrm>
            <a:off x="5644421" y="2918594"/>
            <a:ext cx="39277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100"/>
              <a:t>Y</a:t>
            </a:r>
            <a:endParaRPr lang="ko-KR" altLang="en-US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E863F4-813A-33E9-43EB-4F62EE6D9AD6}"/>
              </a:ext>
            </a:extLst>
          </p:cNvPr>
          <p:cNvSpPr txBox="1"/>
          <p:nvPr/>
        </p:nvSpPr>
        <p:spPr>
          <a:xfrm>
            <a:off x="5551664" y="1580166"/>
            <a:ext cx="39277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100"/>
              <a:t>Y</a:t>
            </a:r>
            <a:endParaRPr lang="ko-KR" altLang="en-US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841D03-4007-081D-07A5-982A3611C294}"/>
              </a:ext>
            </a:extLst>
          </p:cNvPr>
          <p:cNvSpPr txBox="1"/>
          <p:nvPr/>
        </p:nvSpPr>
        <p:spPr>
          <a:xfrm>
            <a:off x="3545089" y="1580165"/>
            <a:ext cx="39277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100"/>
              <a:t>N</a:t>
            </a:r>
            <a:endParaRPr lang="ko-KR" altLang="en-US" sz="110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812D1986-3CED-920D-657E-11923C08116E}"/>
              </a:ext>
            </a:extLst>
          </p:cNvPr>
          <p:cNvCxnSpPr>
            <a:cxnSpLocks/>
            <a:stCxn id="13" idx="0"/>
            <a:endCxn id="9" idx="1"/>
          </p:cNvCxnSpPr>
          <p:nvPr/>
        </p:nvCxnSpPr>
        <p:spPr>
          <a:xfrm rot="5400000" flipH="1" flipV="1">
            <a:off x="2706421" y="3116689"/>
            <a:ext cx="1151750" cy="1200309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F126198-0DB4-E430-9905-F05958B3A110}"/>
              </a:ext>
            </a:extLst>
          </p:cNvPr>
          <p:cNvSpPr txBox="1"/>
          <p:nvPr/>
        </p:nvSpPr>
        <p:spPr>
          <a:xfrm>
            <a:off x="4174188" y="4391206"/>
            <a:ext cx="26826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FCC994-609A-4C0C-9C76-8D8466352445}"/>
              </a:ext>
            </a:extLst>
          </p:cNvPr>
          <p:cNvSpPr txBox="1"/>
          <p:nvPr/>
        </p:nvSpPr>
        <p:spPr>
          <a:xfrm>
            <a:off x="4101173" y="3018382"/>
            <a:ext cx="26826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②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9D3145-FD00-9262-265B-6C005A701594}"/>
              </a:ext>
            </a:extLst>
          </p:cNvPr>
          <p:cNvSpPr txBox="1"/>
          <p:nvPr/>
        </p:nvSpPr>
        <p:spPr>
          <a:xfrm>
            <a:off x="4088444" y="1735108"/>
            <a:ext cx="26826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8865C6-792D-ADB5-4B23-AE0160F4F584}"/>
              </a:ext>
            </a:extLst>
          </p:cNvPr>
          <p:cNvSpPr txBox="1"/>
          <p:nvPr/>
        </p:nvSpPr>
        <p:spPr>
          <a:xfrm>
            <a:off x="6378550" y="3022352"/>
            <a:ext cx="26826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481174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F882C78-2517-C0FE-D354-1E078C8C1BD8}"/>
              </a:ext>
            </a:extLst>
          </p:cNvPr>
          <p:cNvSpPr/>
          <p:nvPr/>
        </p:nvSpPr>
        <p:spPr>
          <a:xfrm>
            <a:off x="0" y="0"/>
            <a:ext cx="1979712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① </a:t>
            </a:r>
            <a:r>
              <a:rPr lang="en-US" altLang="ko-KR" sz="1400" b="1"/>
              <a:t>Level </a:t>
            </a:r>
            <a:r>
              <a:rPr lang="ko-KR" altLang="en-US" sz="1400" b="1"/>
              <a:t>적정성 </a:t>
            </a:r>
            <a:r>
              <a:rPr lang="en-US" altLang="ko-KR" sz="1400" b="1"/>
              <a:t>Logic</a:t>
            </a:r>
            <a:endParaRPr lang="ko-KR" altLang="en-US" sz="1400" b="1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B49B0C2-9774-A376-A519-22DFEFD86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20688"/>
            <a:ext cx="4265744" cy="26108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7DF8ECC-7577-CF82-A10B-90BB0308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644305"/>
            <a:ext cx="5677705" cy="27266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7B2A27-CD29-F0CB-0884-996E0EAADB04}"/>
              </a:ext>
            </a:extLst>
          </p:cNvPr>
          <p:cNvSpPr txBox="1"/>
          <p:nvPr/>
        </p:nvSpPr>
        <p:spPr>
          <a:xfrm>
            <a:off x="4373248" y="620688"/>
            <a:ext cx="477075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/>
              <a:t>- </a:t>
            </a:r>
            <a:r>
              <a:rPr lang="ko-KR" altLang="en-US" sz="1050" b="1"/>
              <a:t>사례 </a:t>
            </a:r>
            <a:r>
              <a:rPr lang="en-US" altLang="ko-KR" sz="1050" b="1"/>
              <a:t>: STS 2APL Reactor Combustion Air Blower Motor DE</a:t>
            </a:r>
            <a:r>
              <a:rPr lang="ko-KR" altLang="en-US" sz="1050" b="1"/>
              <a:t>측 </a:t>
            </a:r>
            <a:r>
              <a:rPr lang="en-US" altLang="ko-KR" sz="1050" b="1"/>
              <a:t>&lt;V170&gt;</a:t>
            </a:r>
          </a:p>
          <a:p>
            <a:pPr>
              <a:spcAft>
                <a:spcPts val="600"/>
              </a:spcAft>
            </a:pPr>
            <a:r>
              <a:rPr lang="en-US" altLang="ko-KR" sz="1050" b="1"/>
              <a:t>- </a:t>
            </a:r>
            <a:r>
              <a:rPr lang="ko-KR" altLang="en-US" sz="1050" b="1"/>
              <a:t>내용 </a:t>
            </a:r>
            <a:r>
              <a:rPr lang="en-US" altLang="ko-KR" sz="1050" b="1"/>
              <a:t>: 3</a:t>
            </a:r>
            <a:r>
              <a:rPr lang="ko-KR" altLang="en-US" sz="1050" b="1"/>
              <a:t>개월 평균 진동</a:t>
            </a:r>
            <a:r>
              <a:rPr lang="en-US" altLang="ko-KR" sz="1050"/>
              <a:t>(</a:t>
            </a:r>
            <a:r>
              <a:rPr lang="ko-KR" altLang="en-US" sz="1050"/>
              <a:t>속도</a:t>
            </a:r>
            <a:r>
              <a:rPr lang="en-US" altLang="ko-KR" sz="1050"/>
              <a:t>)</a:t>
            </a:r>
            <a:r>
              <a:rPr lang="en-US" altLang="ko-KR" sz="1050" b="1"/>
              <a:t> – 11.02mm/s</a:t>
            </a:r>
          </a:p>
          <a:p>
            <a:pPr>
              <a:spcAft>
                <a:spcPts val="600"/>
              </a:spcAft>
            </a:pPr>
            <a:r>
              <a:rPr lang="en-US" altLang="ko-KR" sz="1050" b="1"/>
              <a:t>          </a:t>
            </a:r>
            <a:r>
              <a:rPr lang="ko-KR" altLang="en-US" sz="1050" b="1"/>
              <a:t>기존 속도 주의 </a:t>
            </a:r>
            <a:r>
              <a:rPr lang="en-US" altLang="ko-KR" sz="1050" b="1"/>
              <a:t>Level – 35mm/s</a:t>
            </a:r>
          </a:p>
          <a:p>
            <a:pPr>
              <a:spcAft>
                <a:spcPts val="600"/>
              </a:spcAft>
            </a:pPr>
            <a:r>
              <a:rPr lang="en-US" altLang="ko-KR" sz="1050" b="1"/>
              <a:t>          </a:t>
            </a:r>
            <a:r>
              <a:rPr lang="ko-KR" altLang="en-US" sz="1050" b="1"/>
              <a:t>기존 속도 위험 </a:t>
            </a:r>
            <a:r>
              <a:rPr lang="en-US" altLang="ko-KR" sz="1050" b="1"/>
              <a:t>Level – 50mm/s  </a:t>
            </a:r>
            <a:endParaRPr lang="ko-KR" altLang="en-US" sz="105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109FA-9FDA-3828-D4AB-04A9AB8C2267}"/>
              </a:ext>
            </a:extLst>
          </p:cNvPr>
          <p:cNvSpPr txBox="1"/>
          <p:nvPr/>
        </p:nvSpPr>
        <p:spPr>
          <a:xfrm>
            <a:off x="4373248" y="2674809"/>
            <a:ext cx="477075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>
                <a:solidFill>
                  <a:srgbClr val="0000FF"/>
                </a:solidFill>
              </a:rPr>
              <a:t>- IQR</a:t>
            </a:r>
            <a:r>
              <a:rPr lang="ko-KR" altLang="en-US" sz="1050" b="1">
                <a:solidFill>
                  <a:srgbClr val="0000FF"/>
                </a:solidFill>
              </a:rPr>
              <a:t> 활용 이상치</a:t>
            </a:r>
            <a:r>
              <a:rPr lang="en-US" altLang="ko-KR" sz="1050" b="1">
                <a:solidFill>
                  <a:srgbClr val="0000FF"/>
                </a:solidFill>
              </a:rPr>
              <a:t>* </a:t>
            </a:r>
            <a:r>
              <a:rPr lang="ko-KR" altLang="en-US" sz="1050" b="1">
                <a:solidFill>
                  <a:srgbClr val="0000FF"/>
                </a:solidFill>
              </a:rPr>
              <a:t>소거</a:t>
            </a:r>
            <a:endParaRPr lang="en-US" altLang="ko-KR" sz="1050" b="1">
              <a:solidFill>
                <a:srgbClr val="0000FF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ko-KR" sz="1050" b="1">
                <a:solidFill>
                  <a:srgbClr val="0000FF"/>
                </a:solidFill>
              </a:rPr>
              <a:t> *</a:t>
            </a:r>
            <a:r>
              <a:rPr lang="ko-KR" altLang="en-US" sz="1050" b="1">
                <a:solidFill>
                  <a:srgbClr val="0000FF"/>
                </a:solidFill>
              </a:rPr>
              <a:t>이상치 </a:t>
            </a:r>
            <a:r>
              <a:rPr lang="en-US" altLang="ko-KR" sz="1050" b="1">
                <a:solidFill>
                  <a:srgbClr val="0000FF"/>
                </a:solidFill>
              </a:rPr>
              <a:t>: </a:t>
            </a:r>
            <a:r>
              <a:rPr lang="ko-KR" altLang="en-US" sz="1050" b="1">
                <a:solidFill>
                  <a:srgbClr val="0000FF"/>
                </a:solidFill>
              </a:rPr>
              <a:t>비가동 </a:t>
            </a:r>
            <a:r>
              <a:rPr lang="en-US" altLang="ko-KR" sz="1050" b="1">
                <a:solidFill>
                  <a:srgbClr val="0000FF"/>
                </a:solidFill>
              </a:rPr>
              <a:t>Data, </a:t>
            </a:r>
            <a:r>
              <a:rPr lang="ko-KR" altLang="en-US" sz="1050" b="1">
                <a:solidFill>
                  <a:srgbClr val="0000FF"/>
                </a:solidFill>
              </a:rPr>
              <a:t>설비 이상 </a:t>
            </a:r>
            <a:r>
              <a:rPr lang="en-US" altLang="ko-KR" sz="1050" b="1">
                <a:solidFill>
                  <a:srgbClr val="0000FF"/>
                </a:solidFill>
              </a:rPr>
              <a:t>Data </a:t>
            </a:r>
            <a:r>
              <a:rPr lang="en-US" altLang="ko-KR" sz="1050">
                <a:solidFill>
                  <a:srgbClr val="0000FF"/>
                </a:solidFill>
              </a:rPr>
              <a:t>(ex. </a:t>
            </a:r>
            <a:r>
              <a:rPr lang="ko-KR" altLang="en-US" sz="1050">
                <a:solidFill>
                  <a:srgbClr val="0000FF"/>
                </a:solidFill>
              </a:rPr>
              <a:t>헌팅</a:t>
            </a:r>
            <a:r>
              <a:rPr lang="en-US" altLang="ko-KR" sz="1050">
                <a:solidFill>
                  <a:srgbClr val="0000FF"/>
                </a:solidFill>
              </a:rPr>
              <a:t>)</a:t>
            </a:r>
            <a:r>
              <a:rPr lang="en-US" altLang="ko-KR" sz="1050" b="1">
                <a:solidFill>
                  <a:srgbClr val="0000FF"/>
                </a:solidFill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altLang="ko-KR" sz="1050" b="1">
                <a:solidFill>
                  <a:srgbClr val="0000FF"/>
                </a:solidFill>
              </a:rPr>
              <a:t>- 3</a:t>
            </a:r>
            <a:r>
              <a:rPr lang="ko-KR" altLang="en-US" sz="1050" b="1">
                <a:solidFill>
                  <a:srgbClr val="0000FF"/>
                </a:solidFill>
              </a:rPr>
              <a:t>개월 정상 범위 內 </a:t>
            </a:r>
            <a:r>
              <a:rPr lang="en-US" altLang="ko-KR" sz="1050" b="1">
                <a:solidFill>
                  <a:srgbClr val="0000FF"/>
                </a:solidFill>
              </a:rPr>
              <a:t>Data </a:t>
            </a:r>
            <a:r>
              <a:rPr lang="ko-KR" altLang="en-US" sz="1050" b="1">
                <a:solidFill>
                  <a:srgbClr val="0000FF"/>
                </a:solidFill>
              </a:rPr>
              <a:t>기준 평균 산출 ☞ </a:t>
            </a:r>
            <a:r>
              <a:rPr lang="en-US" altLang="ko-KR" sz="1050" b="1">
                <a:solidFill>
                  <a:srgbClr val="0000FF"/>
                </a:solidFill>
              </a:rPr>
              <a:t>11.02mm/s</a:t>
            </a:r>
          </a:p>
          <a:p>
            <a:pPr>
              <a:spcAft>
                <a:spcPts val="600"/>
              </a:spcAft>
            </a:pPr>
            <a:r>
              <a:rPr lang="en-US" altLang="ko-KR" sz="1050" b="1">
                <a:solidFill>
                  <a:srgbClr val="0000FF"/>
                </a:solidFill>
              </a:rPr>
              <a:t>- </a:t>
            </a:r>
            <a:r>
              <a:rPr lang="ko-KR" altLang="en-US" sz="1050" b="1">
                <a:solidFill>
                  <a:srgbClr val="0000FF"/>
                </a:solidFill>
              </a:rPr>
              <a:t>적정 주위</a:t>
            </a:r>
            <a:r>
              <a:rPr lang="en-US" altLang="ko-KR" sz="1050" b="1">
                <a:solidFill>
                  <a:srgbClr val="0000FF"/>
                </a:solidFill>
              </a:rPr>
              <a:t>/</a:t>
            </a:r>
            <a:r>
              <a:rPr lang="ko-KR" altLang="en-US" sz="1050" b="1">
                <a:solidFill>
                  <a:srgbClr val="0000FF"/>
                </a:solidFill>
              </a:rPr>
              <a:t>위험 알람 산출</a:t>
            </a:r>
            <a:endParaRPr lang="en-US" altLang="ko-KR" sz="1050" b="1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7CB8-7929-13AF-4B63-A47F6C70074F}"/>
              </a:ext>
            </a:extLst>
          </p:cNvPr>
          <p:cNvSpPr txBox="1"/>
          <p:nvPr/>
        </p:nvSpPr>
        <p:spPr>
          <a:xfrm>
            <a:off x="10050953" y="-9460432"/>
            <a:ext cx="7826901" cy="27299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/>
              <a:t>{</a:t>
            </a:r>
          </a:p>
          <a:p>
            <a:r>
              <a:rPr lang="ko-KR" altLang="en-US" sz="800"/>
              <a:t> "cells": [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"99ca9794-a27d-4390-8366-f24d80304cdc",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"import pandas as pd\n",</a:t>
            </a:r>
          </a:p>
          <a:p>
            <a:r>
              <a:rPr lang="ko-KR" altLang="en-US" sz="800"/>
              <a:t>    "import numpy as np\n",</a:t>
            </a:r>
          </a:p>
          <a:p>
            <a:r>
              <a:rPr lang="ko-KR" altLang="en-US" sz="800"/>
              <a:t>    "import matplotlib.pyplot as plt\n",</a:t>
            </a:r>
          </a:p>
          <a:p>
            <a:r>
              <a:rPr lang="ko-KR" altLang="en-US" sz="800"/>
              <a:t>    "import matplotlib.dates as mdates\n",</a:t>
            </a:r>
          </a:p>
          <a:p>
            <a:r>
              <a:rPr lang="ko-KR" altLang="en-US" sz="800"/>
              <a:t>    "import os"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"f6a39f22-56b4-4afc-8f22-afd708f82cf5",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"path = os.path.join(os.getcwd(), \"DataBase\")\n",</a:t>
            </a:r>
          </a:p>
          <a:p>
            <a:r>
              <a:rPr lang="ko-KR" altLang="en-US" sz="800"/>
              <a:t>    "listdir = os.listdir(path)\n",</a:t>
            </a:r>
          </a:p>
          <a:p>
            <a:r>
              <a:rPr lang="ko-KR" altLang="en-US" sz="800"/>
              <a:t>    "listdir"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"ba8b8280-e841-48d5-bd3b-22b6f7c3b110",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"file = os.path.join(path, \"Trend ARP SECTION(증설)_2ARP REACTOR COMBUSTION AIR BLOWER_MOTOR DE-V170 (V170).csv\")\n",</a:t>
            </a:r>
          </a:p>
          <a:p>
            <a:r>
              <a:rPr lang="ko-KR" altLang="en-US" sz="800"/>
              <a:t>    "df = pd.read_csv(file)\n",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날짜 형식 변환\n",</a:t>
            </a:r>
          </a:p>
          <a:p>
            <a:r>
              <a:rPr lang="ko-KR" altLang="en-US" sz="800"/>
              <a:t>    "df[\"DataDate\"] = pd.to_datetime(df[\"DataDate\"])\n",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"df"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"e9b81f03-bea0-4f3d-bf7d-8817f0619eee",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"## 현재 설정된 알람 Level\n",</a:t>
            </a:r>
          </a:p>
          <a:p>
            <a:r>
              <a:rPr lang="ko-KR" altLang="en-US" sz="800"/>
              <a:t>    "WarnLevel = 35\n",</a:t>
            </a:r>
          </a:p>
          <a:p>
            <a:r>
              <a:rPr lang="ko-KR" altLang="en-US" sz="800"/>
              <a:t>    "DangLevel = 50\n",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"main_factor = \"VelAve\"\n",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"ax = df.plot(x=\"DataDate\", y=main_factor, figsize=(12, 4))\n",</a:t>
            </a:r>
          </a:p>
          <a:p>
            <a:r>
              <a:rPr lang="ko-KR" altLang="en-US" sz="800"/>
              <a:t>    "ax.axhline(WarnLevel, color=\"orange\", label=\"Warning\")\n",</a:t>
            </a:r>
          </a:p>
          <a:p>
            <a:r>
              <a:rPr lang="ko-KR" altLang="en-US" sz="800"/>
              <a:t>    "ax.axhline(DangLevel, color=\"red\", label=\"Danger\")\n",</a:t>
            </a:r>
          </a:p>
          <a:p>
            <a:r>
              <a:rPr lang="ko-KR" altLang="en-US" sz="800"/>
              <a:t>    "ax.set_xlabel(\"Date\")\n",</a:t>
            </a:r>
          </a:p>
          <a:p>
            <a:r>
              <a:rPr lang="ko-KR" altLang="en-US" sz="800"/>
              <a:t>    "ax.set_ylabel(main_factor)\n",</a:t>
            </a:r>
          </a:p>
          <a:p>
            <a:r>
              <a:rPr lang="ko-KR" altLang="en-US" sz="800"/>
              <a:t>    "ax.legend(loc=2)\n",</a:t>
            </a:r>
          </a:p>
          <a:p>
            <a:r>
              <a:rPr lang="ko-KR" altLang="en-US" sz="800"/>
              <a:t>    "plt.show()"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"ab061e3a-6457-4382-b7a3-4b76eea0a1c7",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"# 데이터 내 가장 최근 날짜를 기준으로 최근 3개월 선별\n",</a:t>
            </a:r>
          </a:p>
          <a:p>
            <a:r>
              <a:rPr lang="ko-KR" altLang="en-US" sz="800"/>
              <a:t>    "latest_date = df[\"DataDate\"].max()\n",</a:t>
            </a:r>
          </a:p>
          <a:p>
            <a:r>
              <a:rPr lang="ko-KR" altLang="en-US" sz="800"/>
              <a:t>    "start_date = latest_date - pd.DateOffset(months=3)\n",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"df_recent_3m = df[\n",</a:t>
            </a:r>
          </a:p>
          <a:p>
            <a:r>
              <a:rPr lang="ko-KR" altLang="en-US" sz="800"/>
              <a:t>    "    (df[\"DataDate\"] &gt;= start_date) &amp;\n",</a:t>
            </a:r>
          </a:p>
          <a:p>
            <a:r>
              <a:rPr lang="ko-KR" altLang="en-US" sz="800"/>
              <a:t>    "    (df[\"DataDate\"] &lt;= latest_date)\n",</a:t>
            </a:r>
          </a:p>
          <a:p>
            <a:r>
              <a:rPr lang="ko-KR" altLang="en-US" sz="800"/>
              <a:t>    "].copy()\n",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"print(df_recent_3m[main_factor])"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"57786cff-381d-413c-be12-43825421de26",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"# 결측치 제외\n",</a:t>
            </a:r>
          </a:p>
          <a:p>
            <a:r>
              <a:rPr lang="ko-KR" altLang="en-US" sz="800"/>
              <a:t>    "values = df_recent_3m[main_factor].dropna()\n",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IQR 계산\n",</a:t>
            </a:r>
          </a:p>
          <a:p>
            <a:r>
              <a:rPr lang="ko-KR" altLang="en-US" sz="800"/>
              <a:t>    "Q1 = values.quantile(0.25)\n",</a:t>
            </a:r>
          </a:p>
          <a:p>
            <a:r>
              <a:rPr lang="ko-KR" altLang="en-US" sz="800"/>
              <a:t>    "Q3 = values.quantile(0.75)\n",</a:t>
            </a:r>
          </a:p>
          <a:p>
            <a:r>
              <a:rPr lang="ko-KR" altLang="en-US" sz="800"/>
              <a:t>    "IQR = Q3 - Q1\n",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정상 범위 계산\n",</a:t>
            </a:r>
          </a:p>
          <a:p>
            <a:r>
              <a:rPr lang="ko-KR" altLang="en-US" sz="800"/>
              <a:t>    "lower_bound = Q1 - 1.5 * IQR\n",</a:t>
            </a:r>
          </a:p>
          <a:p>
            <a:r>
              <a:rPr lang="ko-KR" altLang="en-US" sz="800"/>
              <a:t>    "upper_bound = Q3 + 1.5 * IQR\n",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정상 범위 데이터만 선별\n",</a:t>
            </a:r>
          </a:p>
          <a:p>
            <a:r>
              <a:rPr lang="ko-KR" altLang="en-US" sz="800"/>
              <a:t>    "normal_values = values[\n",</a:t>
            </a:r>
          </a:p>
          <a:p>
            <a:r>
              <a:rPr lang="ko-KR" altLang="en-US" sz="800"/>
              <a:t>    "    values.between(lower_bound, upper_bound)\n",</a:t>
            </a:r>
          </a:p>
          <a:p>
            <a:r>
              <a:rPr lang="ko-KR" altLang="en-US" sz="800"/>
              <a:t>    "]\n",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정상값 평균\n",</a:t>
            </a:r>
          </a:p>
          <a:p>
            <a:r>
              <a:rPr lang="ko-KR" altLang="en-US" sz="800"/>
              <a:t>    "normal_mean = normal_values.mean()"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"9104222c-ff2f-4f2d-b492-662e622ec17f",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"# 이상치 데이터\n",</a:t>
            </a:r>
          </a:p>
          <a:p>
            <a:r>
              <a:rPr lang="ko-KR" altLang="en-US" sz="800"/>
              <a:t>    "outliers = df_recent_3m[\n",</a:t>
            </a:r>
          </a:p>
          <a:p>
            <a:r>
              <a:rPr lang="ko-KR" altLang="en-US" sz="800"/>
              <a:t>    "    (df_recent_3m[main_factor] &lt; lower_bound) |\n",</a:t>
            </a:r>
          </a:p>
          <a:p>
            <a:r>
              <a:rPr lang="ko-KR" altLang="en-US" sz="800"/>
              <a:t>    "    (df_recent_3m[main_factor] &gt; upper_bound)\n",</a:t>
            </a:r>
          </a:p>
          <a:p>
            <a:r>
              <a:rPr lang="ko-KR" altLang="en-US" sz="800"/>
              <a:t>    "].dropna(subset=[\"DataDate\", main_factor])\n",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Plot\n",</a:t>
            </a:r>
          </a:p>
          <a:p>
            <a:r>
              <a:rPr lang="ko-KR" altLang="en-US" sz="800"/>
              <a:t>    "fig, ax = plt.subplots(figsize=(12, 4))\n",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"ax.plot(\n",</a:t>
            </a:r>
          </a:p>
          <a:p>
            <a:r>
              <a:rPr lang="ko-KR" altLang="en-US" sz="800"/>
              <a:t>    "    df_recent_3m[\"DataDate\"],\n",</a:t>
            </a:r>
          </a:p>
          <a:p>
            <a:r>
              <a:rPr lang="ko-KR" altLang="en-US" sz="800"/>
              <a:t>    "    df_recent_3m[main_factor],\n",</a:t>
            </a:r>
          </a:p>
          <a:p>
            <a:r>
              <a:rPr lang="ko-KR" altLang="en-US" sz="800"/>
              <a:t>    "    label=main_factor\n",</a:t>
            </a:r>
          </a:p>
          <a:p>
            <a:r>
              <a:rPr lang="ko-KR" altLang="en-US" sz="800"/>
              <a:t>    ")\n",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기준선\n",</a:t>
            </a:r>
          </a:p>
          <a:p>
            <a:r>
              <a:rPr lang="ko-KR" altLang="en-US" sz="800"/>
              <a:t>    "ax.axhline(WarnLevel, color=\"orange\", label=\"Warning\")\n",</a:t>
            </a:r>
          </a:p>
          <a:p>
            <a:r>
              <a:rPr lang="ko-KR" altLang="en-US" sz="800"/>
              <a:t>    "ax.axhline(DangLevel, color=\"red\", label=\"Danger\")\n",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IQR 정상 범위\n",</a:t>
            </a:r>
          </a:p>
          <a:p>
            <a:r>
              <a:rPr lang="ko-KR" altLang="en-US" sz="800"/>
              <a:t>    "ax.axhspan(\n",</a:t>
            </a:r>
          </a:p>
          <a:p>
            <a:r>
              <a:rPr lang="ko-KR" altLang="en-US" sz="800"/>
              <a:t>    "    lower_bound,\n",</a:t>
            </a:r>
          </a:p>
          <a:p>
            <a:r>
              <a:rPr lang="ko-KR" altLang="en-US" sz="800"/>
              <a:t>    "    upper_bound,\n",</a:t>
            </a:r>
          </a:p>
          <a:p>
            <a:r>
              <a:rPr lang="ko-KR" altLang="en-US" sz="800"/>
              <a:t>    "    color=\"green\",\n",</a:t>
            </a:r>
          </a:p>
          <a:p>
            <a:r>
              <a:rPr lang="ko-KR" altLang="en-US" sz="800"/>
              <a:t>    "    alpha=0.1,\n",</a:t>
            </a:r>
          </a:p>
          <a:p>
            <a:r>
              <a:rPr lang="ko-KR" altLang="en-US" sz="800"/>
              <a:t>    "    label=\"IQR Normal Range\"\n",</a:t>
            </a:r>
          </a:p>
          <a:p>
            <a:r>
              <a:rPr lang="ko-KR" altLang="en-US" sz="800"/>
              <a:t>    ")\n",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이상치 표시: 날짜를 matplotlib 숫자로 변환\n",</a:t>
            </a:r>
          </a:p>
          <a:p>
            <a:r>
              <a:rPr lang="ko-KR" altLang="en-US" sz="800"/>
              <a:t>    "outlier_dates = mdates.date2num(\n",</a:t>
            </a:r>
          </a:p>
          <a:p>
            <a:r>
              <a:rPr lang="ko-KR" altLang="en-US" sz="800"/>
              <a:t>    "    outliers[\"DataDate\"].dt.to_pydatetime()\n",</a:t>
            </a:r>
          </a:p>
          <a:p>
            <a:r>
              <a:rPr lang="ko-KR" altLang="en-US" sz="800"/>
              <a:t>    ")\n",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"ax.scatter(\n",</a:t>
            </a:r>
          </a:p>
          <a:p>
            <a:r>
              <a:rPr lang="ko-KR" altLang="en-US" sz="800"/>
              <a:t>    "    outlier_dates,\n",</a:t>
            </a:r>
          </a:p>
          <a:p>
            <a:r>
              <a:rPr lang="ko-KR" altLang="en-US" sz="800"/>
              <a:t>    "    outliers[main_factor].to_numpy(),\n",</a:t>
            </a:r>
          </a:p>
          <a:p>
            <a:r>
              <a:rPr lang="ko-KR" altLang="en-US" sz="800"/>
              <a:t>    "    color=\"red\",\n",</a:t>
            </a:r>
          </a:p>
          <a:p>
            <a:r>
              <a:rPr lang="ko-KR" altLang="en-US" sz="800"/>
              <a:t>    "    s=5,\n",</a:t>
            </a:r>
          </a:p>
          <a:p>
            <a:r>
              <a:rPr lang="ko-KR" altLang="en-US" sz="800"/>
              <a:t>    "    zorder=5,\n",</a:t>
            </a:r>
          </a:p>
          <a:p>
            <a:r>
              <a:rPr lang="ko-KR" altLang="en-US" sz="800"/>
              <a:t>    "    label=\"Out of IQR\"\n",</a:t>
            </a:r>
          </a:p>
          <a:p>
            <a:r>
              <a:rPr lang="ko-KR" altLang="en-US" sz="800"/>
              <a:t>    ")\n",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"# 날짜 축 형식\n",</a:t>
            </a:r>
          </a:p>
          <a:p>
            <a:r>
              <a:rPr lang="ko-KR" altLang="en-US" sz="800"/>
              <a:t>    "ax.xaxis.set_major_formatter(\n",</a:t>
            </a:r>
          </a:p>
          <a:p>
            <a:r>
              <a:rPr lang="ko-KR" altLang="en-US" sz="800"/>
              <a:t>    "    mdates.DateFormatter(\"%Y-%m-%d\")\n",</a:t>
            </a:r>
          </a:p>
          <a:p>
            <a:r>
              <a:rPr lang="ko-KR" altLang="en-US" sz="800"/>
              <a:t>    ")\n",</a:t>
            </a:r>
          </a:p>
          <a:p>
            <a:r>
              <a:rPr lang="ko-KR" altLang="en-US" sz="800"/>
              <a:t>    "fig.autofmt_xdate()\n",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"ax.set_xlim(\n",</a:t>
            </a:r>
          </a:p>
          <a:p>
            <a:r>
              <a:rPr lang="ko-KR" altLang="en-US" sz="800"/>
              <a:t>    "    df_recent_3m.DataDate.iloc[0],\n",</a:t>
            </a:r>
          </a:p>
          <a:p>
            <a:r>
              <a:rPr lang="ko-KR" altLang="en-US" sz="800"/>
              <a:t>    "    df_recent_3m.DataDate.iloc[-1]\n",</a:t>
            </a:r>
          </a:p>
          <a:p>
            <a:r>
              <a:rPr lang="ko-KR" altLang="en-US" sz="800"/>
              <a:t>    ")\n",</a:t>
            </a:r>
          </a:p>
          <a:p>
            <a:r>
              <a:rPr lang="ko-KR" altLang="en-US" sz="800"/>
              <a:t>    "\n",</a:t>
            </a:r>
          </a:p>
          <a:p>
            <a:r>
              <a:rPr lang="ko-KR" altLang="en-US" sz="800"/>
              <a:t>    "ax.set_xlabel(\"Date\")\n",</a:t>
            </a:r>
          </a:p>
          <a:p>
            <a:r>
              <a:rPr lang="ko-KR" altLang="en-US" sz="800"/>
              <a:t>    "ax.set_ylabel(main_factor)\n",</a:t>
            </a:r>
          </a:p>
          <a:p>
            <a:r>
              <a:rPr lang="ko-KR" altLang="en-US" sz="800"/>
              <a:t>    "ax.legend(loc=\"upper left\")\n",</a:t>
            </a:r>
          </a:p>
          <a:p>
            <a:r>
              <a:rPr lang="ko-KR" altLang="en-US" sz="800"/>
              <a:t>    "plt.show()"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"71e4915e-c779-4d8b-af5a-b932bb82f54b",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</a:t>
            </a:r>
          </a:p>
          <a:p>
            <a:r>
              <a:rPr lang="ko-KR" altLang="en-US" sz="800"/>
              <a:t>    "print(f\"적정 주의 알람 Level : {2*normal_mean:.2f}\")\n",</a:t>
            </a:r>
          </a:p>
          <a:p>
            <a:r>
              <a:rPr lang="ko-KR" altLang="en-US" sz="800"/>
              <a:t>    "print(f\"적정 위험 알람 Level : {4*normal_mean:.2f}\")"</a:t>
            </a:r>
          </a:p>
          <a:p>
            <a:r>
              <a:rPr lang="ko-KR" altLang="en-US" sz="800"/>
              <a:t>   ]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{</a:t>
            </a:r>
          </a:p>
          <a:p>
            <a:r>
              <a:rPr lang="ko-KR" altLang="en-US" sz="800"/>
              <a:t>   "cell_type": "code",</a:t>
            </a:r>
          </a:p>
          <a:p>
            <a:r>
              <a:rPr lang="ko-KR" altLang="en-US" sz="800"/>
              <a:t>   "execution_count": null,</a:t>
            </a:r>
          </a:p>
          <a:p>
            <a:r>
              <a:rPr lang="ko-KR" altLang="en-US" sz="800"/>
              <a:t>   "id": "d267d021-3810-440c-8347-aa647b41c194",</a:t>
            </a:r>
          </a:p>
          <a:p>
            <a:r>
              <a:rPr lang="ko-KR" altLang="en-US" sz="800"/>
              <a:t>   "metadata": {},</a:t>
            </a:r>
          </a:p>
          <a:p>
            <a:r>
              <a:rPr lang="ko-KR" altLang="en-US" sz="800"/>
              <a:t>   "outputs": [],</a:t>
            </a:r>
          </a:p>
          <a:p>
            <a:r>
              <a:rPr lang="ko-KR" altLang="en-US" sz="800"/>
              <a:t>   "source": []</a:t>
            </a:r>
          </a:p>
          <a:p>
            <a:r>
              <a:rPr lang="ko-KR" altLang="en-US" sz="800"/>
              <a:t>  }</a:t>
            </a:r>
          </a:p>
          <a:p>
            <a:r>
              <a:rPr lang="ko-KR" altLang="en-US" sz="800"/>
              <a:t> ],</a:t>
            </a:r>
          </a:p>
          <a:p>
            <a:r>
              <a:rPr lang="ko-KR" altLang="en-US" sz="800"/>
              <a:t> "metadata": {</a:t>
            </a:r>
          </a:p>
          <a:p>
            <a:r>
              <a:rPr lang="ko-KR" altLang="en-US" sz="800"/>
              <a:t>  "kernelspec": {</a:t>
            </a:r>
          </a:p>
          <a:p>
            <a:r>
              <a:rPr lang="ko-KR" altLang="en-US" sz="800"/>
              <a:t>   "display_name": "Python 3 (ipykernel)",</a:t>
            </a:r>
          </a:p>
          <a:p>
            <a:r>
              <a:rPr lang="ko-KR" altLang="en-US" sz="800"/>
              <a:t>   "language": "python",</a:t>
            </a:r>
          </a:p>
          <a:p>
            <a:r>
              <a:rPr lang="ko-KR" altLang="en-US" sz="800"/>
              <a:t>   "name": "python3"</a:t>
            </a:r>
          </a:p>
          <a:p>
            <a:r>
              <a:rPr lang="ko-KR" altLang="en-US" sz="800"/>
              <a:t>  },</a:t>
            </a:r>
          </a:p>
          <a:p>
            <a:r>
              <a:rPr lang="ko-KR" altLang="en-US" sz="800"/>
              <a:t>  "language_info": {</a:t>
            </a:r>
          </a:p>
          <a:p>
            <a:r>
              <a:rPr lang="ko-KR" altLang="en-US" sz="800"/>
              <a:t>   "codemirror_mode": {</a:t>
            </a:r>
          </a:p>
          <a:p>
            <a:r>
              <a:rPr lang="ko-KR" altLang="en-US" sz="800"/>
              <a:t>    "name": "ipython",</a:t>
            </a:r>
          </a:p>
          <a:p>
            <a:r>
              <a:rPr lang="ko-KR" altLang="en-US" sz="800"/>
              <a:t>    "version": 3</a:t>
            </a:r>
          </a:p>
          <a:p>
            <a:r>
              <a:rPr lang="ko-KR" altLang="en-US" sz="800"/>
              <a:t>   },</a:t>
            </a:r>
          </a:p>
          <a:p>
            <a:r>
              <a:rPr lang="ko-KR" altLang="en-US" sz="800"/>
              <a:t>   "file_extension": ".py",</a:t>
            </a:r>
          </a:p>
          <a:p>
            <a:r>
              <a:rPr lang="ko-KR" altLang="en-US" sz="800"/>
              <a:t>   "mimetype": "text/x-python",</a:t>
            </a:r>
          </a:p>
          <a:p>
            <a:r>
              <a:rPr lang="ko-KR" altLang="en-US" sz="800"/>
              <a:t>   "name": "python",</a:t>
            </a:r>
          </a:p>
          <a:p>
            <a:r>
              <a:rPr lang="ko-KR" altLang="en-US" sz="800"/>
              <a:t>   "nbconvert_exporter": "python",</a:t>
            </a:r>
          </a:p>
          <a:p>
            <a:r>
              <a:rPr lang="ko-KR" altLang="en-US" sz="800"/>
              <a:t>   "pygments_lexer": "ipython3",</a:t>
            </a:r>
          </a:p>
          <a:p>
            <a:r>
              <a:rPr lang="ko-KR" altLang="en-US" sz="800"/>
              <a:t>   "version": "3.11.9"</a:t>
            </a:r>
          </a:p>
          <a:p>
            <a:r>
              <a:rPr lang="ko-KR" altLang="en-US" sz="800"/>
              <a:t>  }</a:t>
            </a:r>
          </a:p>
          <a:p>
            <a:r>
              <a:rPr lang="ko-KR" altLang="en-US" sz="800"/>
              <a:t> },</a:t>
            </a:r>
          </a:p>
          <a:p>
            <a:r>
              <a:rPr lang="ko-KR" altLang="en-US" sz="800"/>
              <a:t> "nbformat": 4,</a:t>
            </a:r>
          </a:p>
          <a:p>
            <a:r>
              <a:rPr lang="ko-KR" altLang="en-US" sz="800"/>
              <a:t> "nbformat_minor": 5</a:t>
            </a:r>
          </a:p>
          <a:p>
            <a:r>
              <a:rPr lang="ko-KR" altLang="en-US" sz="800"/>
              <a:t>}</a:t>
            </a: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5D4CA8FC-2114-C1C4-5FDC-4B213D53CD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70710"/>
              </p:ext>
            </p:extLst>
          </p:nvPr>
        </p:nvGraphicFramePr>
        <p:xfrm>
          <a:off x="8305800" y="0"/>
          <a:ext cx="8382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4" imgW="838400" imgH="514248" progId="Package">
                  <p:embed/>
                </p:oleObj>
              </mc:Choice>
              <mc:Fallback>
                <p:oleObj name="포장기 셸 개체" showAsIcon="1" r:id="rId4" imgW="838400" imgH="514248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05800" y="0"/>
                        <a:ext cx="8382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751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0812-C24E-67E0-82D8-C9308510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D5EC26A-31BA-7491-957D-1F85E7378220}"/>
              </a:ext>
            </a:extLst>
          </p:cNvPr>
          <p:cNvSpPr/>
          <p:nvPr/>
        </p:nvSpPr>
        <p:spPr>
          <a:xfrm>
            <a:off x="0" y="0"/>
            <a:ext cx="1979712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② 우상향 검출 </a:t>
            </a:r>
            <a:r>
              <a:rPr lang="en-US" altLang="ko-KR" sz="1400" b="1"/>
              <a:t>Logic</a:t>
            </a:r>
            <a:endParaRPr lang="ko-KR" altLang="en-US" sz="1400" b="1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8D76A1B5-BA6B-F087-D595-614C768DBC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753836"/>
              </p:ext>
            </p:extLst>
          </p:nvPr>
        </p:nvGraphicFramePr>
        <p:xfrm>
          <a:off x="8229600" y="0"/>
          <a:ext cx="914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914581" imgH="514248" progId="Package">
                  <p:embed/>
                </p:oleObj>
              </mc:Choice>
              <mc:Fallback>
                <p:oleObj name="포장기 셸 개체" showAsIcon="1" r:id="rId2" imgW="914581" imgH="514248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9600" y="0"/>
                        <a:ext cx="9144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39A2AF-F84F-8EDD-F828-71B9C613BC99}"/>
              </a:ext>
            </a:extLst>
          </p:cNvPr>
          <p:cNvSpPr txBox="1"/>
          <p:nvPr/>
        </p:nvSpPr>
        <p:spPr>
          <a:xfrm>
            <a:off x="9396536" y="-23520321"/>
            <a:ext cx="15783786" cy="51306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/>
              <a:t>import sys</a:t>
            </a:r>
          </a:p>
          <a:p>
            <a:r>
              <a:rPr lang="ko-KR" altLang="en-US" sz="800"/>
              <a:t>import time</a:t>
            </a:r>
          </a:p>
          <a:p>
            <a:r>
              <a:rPr lang="ko-KR" altLang="en-US" sz="800"/>
              <a:t>import math</a:t>
            </a:r>
          </a:p>
          <a:p>
            <a:r>
              <a:rPr lang="ko-KR" altLang="en-US" sz="800"/>
              <a:t>import re</a:t>
            </a:r>
          </a:p>
          <a:p>
            <a:r>
              <a:rPr lang="ko-KR" altLang="en-US" sz="800"/>
              <a:t>import os</a:t>
            </a:r>
          </a:p>
          <a:p>
            <a:r>
              <a:rPr lang="ko-KR" altLang="en-US" sz="800"/>
              <a:t>import json</a:t>
            </a:r>
          </a:p>
          <a:p>
            <a:r>
              <a:rPr lang="ko-KR" altLang="en-US" sz="800"/>
              <a:t>import socket</a:t>
            </a:r>
          </a:p>
          <a:p>
            <a:r>
              <a:rPr lang="ko-KR" altLang="en-US" sz="800"/>
              <a:t>import struct</a:t>
            </a:r>
          </a:p>
          <a:p>
            <a:r>
              <a:rPr lang="ko-KR" altLang="en-US" sz="800"/>
              <a:t>import pyodbc</a:t>
            </a:r>
          </a:p>
          <a:p>
            <a:r>
              <a:rPr lang="ko-KR" altLang="en-US" sz="800"/>
              <a:t>import pandas as pd</a:t>
            </a:r>
          </a:p>
          <a:p>
            <a:r>
              <a:rPr lang="ko-KR" altLang="en-US" sz="800"/>
              <a:t>import numpy as np</a:t>
            </a:r>
          </a:p>
          <a:p>
            <a:r>
              <a:rPr lang="ko-KR" altLang="en-US" sz="800"/>
              <a:t>from scipy.stats import linregress</a:t>
            </a:r>
          </a:p>
          <a:p>
            <a:r>
              <a:rPr lang="ko-KR" altLang="en-US" sz="800"/>
              <a:t>import matplotlib.pyplot as plt</a:t>
            </a:r>
          </a:p>
          <a:p>
            <a:r>
              <a:rPr lang="ko-KR" altLang="en-US" sz="800"/>
              <a:t>import matplotlib.gridspec as gridspec</a:t>
            </a:r>
          </a:p>
          <a:p>
            <a:r>
              <a:rPr lang="ko-KR" altLang="en-US" sz="800"/>
              <a:t>plt.rcParams['font.family'] = 'Malgun Gothic'</a:t>
            </a:r>
          </a:p>
          <a:p>
            <a:r>
              <a:rPr lang="ko-KR" altLang="en-US" sz="800"/>
              <a:t>plt.rcParams['axes.unicode_minus'] = False</a:t>
            </a:r>
          </a:p>
          <a:p>
            <a:endParaRPr lang="ko-KR" altLang="en-US" sz="800"/>
          </a:p>
          <a:p>
            <a:r>
              <a:rPr lang="ko-KR" altLang="en-US" sz="800"/>
              <a:t>import logging</a:t>
            </a:r>
          </a:p>
          <a:p>
            <a:r>
              <a:rPr lang="ko-KR" altLang="en-US" sz="800"/>
              <a:t>from logging.handlers import RotatingFileHandler</a:t>
            </a:r>
          </a:p>
          <a:p>
            <a:endParaRPr lang="ko-KR" altLang="en-US" sz="800"/>
          </a:p>
          <a:p>
            <a:r>
              <a:rPr lang="ko-KR" altLang="en-US" sz="800"/>
              <a:t>import smtplib</a:t>
            </a:r>
          </a:p>
          <a:p>
            <a:r>
              <a:rPr lang="ko-KR" altLang="en-US" sz="800"/>
              <a:t>from email.mime.multipart import MIMEMultipart</a:t>
            </a:r>
          </a:p>
          <a:p>
            <a:r>
              <a:rPr lang="ko-KR" altLang="en-US" sz="800"/>
              <a:t>from email.mime.text import MIMEText</a:t>
            </a:r>
          </a:p>
          <a:p>
            <a:endParaRPr lang="ko-KR" altLang="en-US" sz="800"/>
          </a:p>
          <a:p>
            <a:r>
              <a:rPr lang="ko-KR" altLang="en-US" sz="800"/>
              <a:t>import warnings</a:t>
            </a:r>
          </a:p>
          <a:p>
            <a:r>
              <a:rPr lang="ko-KR" altLang="en-US" sz="800"/>
              <a:t>warnings.filterwarnings('ignore') # 모든 경고 무시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class DBConfigLoader:</a:t>
            </a:r>
          </a:p>
          <a:p>
            <a:r>
              <a:rPr lang="ko-KR" altLang="en-US" sz="800"/>
              <a:t>    """</a:t>
            </a:r>
          </a:p>
          <a:p>
            <a:r>
              <a:rPr lang="ko-KR" altLang="en-US" sz="800"/>
              <a:t>    config.json 기반 DB 접속 및 메일 수신자 정보 로더</a:t>
            </a:r>
          </a:p>
          <a:p>
            <a:r>
              <a:rPr lang="ko-KR" altLang="en-US" sz="800"/>
              <a:t>    여러 DB 대상(라인/설비) 공용 사용</a:t>
            </a:r>
          </a:p>
          <a:p>
            <a:r>
              <a:rPr lang="ko-KR" altLang="en-US" sz="800"/>
              <a:t>    """</a:t>
            </a:r>
          </a:p>
          <a:p>
            <a:endParaRPr lang="ko-KR" altLang="en-US" sz="800"/>
          </a:p>
          <a:p>
            <a:r>
              <a:rPr lang="ko-KR" altLang="en-US" sz="800"/>
              <a:t>    def __init__(self, config_path: str):</a:t>
            </a:r>
          </a:p>
          <a:p>
            <a:r>
              <a:rPr lang="ko-KR" altLang="en-US" sz="800"/>
              <a:t>        self.config_path = config_path</a:t>
            </a:r>
          </a:p>
          <a:p>
            <a:r>
              <a:rPr lang="ko-KR" altLang="en-US" sz="800"/>
              <a:t>        self._config = self._load_config()</a:t>
            </a:r>
          </a:p>
          <a:p>
            <a:endParaRPr lang="ko-KR" altLang="en-US" sz="800"/>
          </a:p>
          <a:p>
            <a:r>
              <a:rPr lang="ko-KR" altLang="en-US" sz="800"/>
              <a:t>    def _load_config(self) -&gt; dict:</a:t>
            </a:r>
          </a:p>
          <a:p>
            <a:r>
              <a:rPr lang="ko-KR" altLang="en-US" sz="800"/>
              <a:t>        try:</a:t>
            </a:r>
          </a:p>
          <a:p>
            <a:r>
              <a:rPr lang="ko-KR" altLang="en-US" sz="800"/>
              <a:t>            with open(self.config_path, "r", encoding="utf-8") as f:</a:t>
            </a:r>
          </a:p>
          <a:p>
            <a:r>
              <a:rPr lang="ko-KR" altLang="en-US" sz="800"/>
              <a:t>                return json.load(f)</a:t>
            </a:r>
          </a:p>
          <a:p>
            <a:r>
              <a:rPr lang="ko-KR" altLang="en-US" sz="800"/>
              <a:t>        except FileNotFoundError:</a:t>
            </a:r>
          </a:p>
          <a:p>
            <a:r>
              <a:rPr lang="ko-KR" altLang="en-US" sz="800"/>
              <a:t>            raise FileNotFoundError(f"❌ config.json 파일을 찾을 수 없습니다: {self.config_path}")</a:t>
            </a:r>
          </a:p>
          <a:p>
            <a:r>
              <a:rPr lang="ko-KR" altLang="en-US" sz="800"/>
              <a:t>        except json.JSONDecodeError as e:</a:t>
            </a:r>
          </a:p>
          <a:p>
            <a:r>
              <a:rPr lang="ko-KR" altLang="en-US" sz="800"/>
              <a:t>            raise ValueError(f"❌ config.json 형식 오류: {e}")</a:t>
            </a:r>
          </a:p>
          <a:p>
            <a:endParaRPr lang="ko-KR" altLang="en-US" sz="800"/>
          </a:p>
          <a:p>
            <a:r>
              <a:rPr lang="ko-KR" altLang="en-US" sz="800"/>
              <a:t>    def get_conn_str(self, target: str) -&gt; str:</a:t>
            </a:r>
          </a:p>
          <a:p>
            <a:r>
              <a:rPr lang="ko-KR" altLang="en-US" sz="800"/>
              <a:t>        """</a:t>
            </a:r>
          </a:p>
          <a:p>
            <a:r>
              <a:rPr lang="ko-KR" altLang="en-US" sz="800"/>
              <a:t>        target(DB key)에 해당하는 MSSQL conn_str 생성</a:t>
            </a:r>
          </a:p>
          <a:p>
            <a:r>
              <a:rPr lang="ko-KR" altLang="en-US" sz="800"/>
              <a:t>        """</a:t>
            </a:r>
          </a:p>
          <a:p>
            <a:r>
              <a:rPr lang="ko-KR" altLang="en-US" sz="800"/>
              <a:t>        if target not in self._config:</a:t>
            </a:r>
          </a:p>
          <a:p>
            <a:r>
              <a:rPr lang="ko-KR" altLang="en-US" sz="800"/>
              <a:t>            raise KeyError(f"❌ '{target}' 설정이 config.json에 없습니다.")</a:t>
            </a:r>
          </a:p>
          <a:p>
            <a:endParaRPr lang="ko-KR" altLang="en-US" sz="800"/>
          </a:p>
          <a:p>
            <a:r>
              <a:rPr lang="ko-KR" altLang="en-US" sz="800"/>
              <a:t>        db = self._config[target]</a:t>
            </a:r>
          </a:p>
          <a:p>
            <a:endParaRPr lang="ko-KR" altLang="en-US" sz="800"/>
          </a:p>
          <a:p>
            <a:r>
              <a:rPr lang="ko-KR" altLang="en-US" sz="800"/>
              <a:t>        driver = db.get("driver", "SQL Server")</a:t>
            </a:r>
          </a:p>
          <a:p>
            <a:endParaRPr lang="ko-KR" altLang="en-US" sz="800"/>
          </a:p>
          <a:p>
            <a:r>
              <a:rPr lang="ko-KR" altLang="en-US" sz="800"/>
              <a:t>        conn_str = (</a:t>
            </a:r>
          </a:p>
          <a:p>
            <a:r>
              <a:rPr lang="ko-KR" altLang="en-US" sz="800"/>
              <a:t>            f"DRIVER={driver};"</a:t>
            </a:r>
          </a:p>
          <a:p>
            <a:r>
              <a:rPr lang="ko-KR" altLang="en-US" sz="800"/>
              <a:t>            f"SERVER={db['server']};"</a:t>
            </a:r>
          </a:p>
          <a:p>
            <a:r>
              <a:rPr lang="ko-KR" altLang="en-US" sz="800"/>
              <a:t>            f"DATABASE={db['database']};"</a:t>
            </a:r>
          </a:p>
          <a:p>
            <a:r>
              <a:rPr lang="ko-KR" altLang="en-US" sz="800"/>
              <a:t>            f"UID={db['username']};"</a:t>
            </a:r>
          </a:p>
          <a:p>
            <a:r>
              <a:rPr lang="ko-KR" altLang="en-US" sz="800"/>
              <a:t>            f"PWD={db['password']}"</a:t>
            </a:r>
          </a:p>
          <a:p>
            <a:r>
              <a:rPr lang="ko-KR" altLang="en-US" sz="800"/>
              <a:t>        )</a:t>
            </a:r>
          </a:p>
          <a:p>
            <a:endParaRPr lang="ko-KR" altLang="en-US" sz="800"/>
          </a:p>
          <a:p>
            <a:r>
              <a:rPr lang="ko-KR" altLang="en-US" sz="800"/>
              <a:t>        return conn_str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def get_items(self, target: str, key: str) -&gt; list:</a:t>
            </a:r>
          </a:p>
          <a:p>
            <a:r>
              <a:rPr lang="ko-KR" altLang="en-US" sz="800"/>
              <a:t>        items = self._config[target]</a:t>
            </a:r>
          </a:p>
          <a:p>
            <a:endParaRPr lang="ko-KR" altLang="en-US" sz="800"/>
          </a:p>
          <a:p>
            <a:r>
              <a:rPr lang="ko-KR" altLang="en-US" sz="800"/>
              <a:t>        return items[key]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class DBReader:</a:t>
            </a:r>
          </a:p>
          <a:p>
            <a:r>
              <a:rPr lang="ko-KR" altLang="en-US" sz="800"/>
              <a:t>    """</a:t>
            </a:r>
          </a:p>
          <a:p>
            <a:r>
              <a:rPr lang="ko-KR" altLang="en-US" sz="800"/>
              <a:t>    MSSQL DB 공통 조회 유틸 Class</a:t>
            </a:r>
          </a:p>
          <a:p>
            <a:r>
              <a:rPr lang="ko-KR" altLang="en-US" sz="800"/>
              <a:t>    다른 모든 업무 Class에서 재사용 가능</a:t>
            </a:r>
          </a:p>
          <a:p>
            <a:r>
              <a:rPr lang="ko-KR" altLang="en-US" sz="800"/>
              <a:t>    """</a:t>
            </a:r>
          </a:p>
          <a:p>
            <a:endParaRPr lang="ko-KR" altLang="en-US" sz="800"/>
          </a:p>
          <a:p>
            <a:r>
              <a:rPr lang="ko-KR" altLang="en-US" sz="800"/>
              <a:t>    def __init__(self, conn_str: str):</a:t>
            </a:r>
          </a:p>
          <a:p>
            <a:r>
              <a:rPr lang="ko-KR" altLang="en-US" sz="800"/>
              <a:t>        self.conn_str = conn_str</a:t>
            </a:r>
          </a:p>
          <a:p>
            <a:endParaRPr lang="ko-KR" altLang="en-US" sz="800"/>
          </a:p>
          <a:p>
            <a:r>
              <a:rPr lang="ko-KR" altLang="en-US" sz="800"/>
              <a:t>    def read_db(self, query: str) -&gt; pd.DataFrame:</a:t>
            </a:r>
          </a:p>
          <a:p>
            <a:r>
              <a:rPr lang="ko-KR" altLang="en-US" sz="800"/>
              <a:t>        """</a:t>
            </a:r>
          </a:p>
          <a:p>
            <a:r>
              <a:rPr lang="ko-KR" altLang="en-US" sz="800"/>
              <a:t>        SQL 실행 후 DataFrame 반환</a:t>
            </a:r>
          </a:p>
          <a:p>
            <a:r>
              <a:rPr lang="ko-KR" altLang="en-US" sz="800"/>
              <a:t>        """</a:t>
            </a:r>
          </a:p>
          <a:p>
            <a:r>
              <a:rPr lang="ko-KR" altLang="en-US" sz="800"/>
              <a:t>        try:</a:t>
            </a:r>
          </a:p>
          <a:p>
            <a:r>
              <a:rPr lang="ko-KR" altLang="en-US" sz="800"/>
              <a:t>            with pyodbc.connect(self.conn_str) as conn:</a:t>
            </a:r>
          </a:p>
          <a:p>
            <a:r>
              <a:rPr lang="ko-KR" altLang="en-US" sz="800"/>
              <a:t>                df = pd.read_sql(query, conn)</a:t>
            </a:r>
          </a:p>
          <a:p>
            <a:r>
              <a:rPr lang="ko-KR" altLang="en-US" sz="800"/>
              <a:t>            return df</a:t>
            </a:r>
          </a:p>
          <a:p>
            <a:endParaRPr lang="ko-KR" altLang="en-US" sz="800"/>
          </a:p>
          <a:p>
            <a:r>
              <a:rPr lang="ko-KR" altLang="en-US" sz="800"/>
              <a:t>        except Exception as e:</a:t>
            </a:r>
          </a:p>
          <a:p>
            <a:r>
              <a:rPr lang="ko-KR" altLang="en-US" sz="800"/>
              <a:t>            logger.error("❌ DB 쿼리 실행 실패")</a:t>
            </a:r>
          </a:p>
          <a:p>
            <a:r>
              <a:rPr lang="ko-KR" altLang="en-US" sz="800"/>
              <a:t>            logger.error(f"Query : {query}")</a:t>
            </a:r>
          </a:p>
          <a:p>
            <a:r>
              <a:rPr lang="ko-KR" altLang="en-US" sz="800"/>
              <a:t>            logger.error(f"Error : {e}")</a:t>
            </a:r>
          </a:p>
          <a:p>
            <a:r>
              <a:rPr lang="ko-KR" altLang="en-US" sz="800"/>
              <a:t>            return pd.DataFrame()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def setup_logging(log_dir, max_mb=20, backup_count=5):</a:t>
            </a:r>
          </a:p>
          <a:p>
            <a:r>
              <a:rPr lang="ko-KR" altLang="en-US" sz="800"/>
              <a:t>    logger = logging.getLogger("Smart-CMS")</a:t>
            </a:r>
          </a:p>
          <a:p>
            <a:r>
              <a:rPr lang="ko-KR" altLang="en-US" sz="800"/>
              <a:t>    logger.setLevel(logging.INFO)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# 이미 핸들러가 설정되어 있다면 중복 방지</a:t>
            </a:r>
          </a:p>
          <a:p>
            <a:r>
              <a:rPr lang="ko-KR" altLang="en-US" sz="800"/>
              <a:t>    if logger.handlers:</a:t>
            </a:r>
          </a:p>
          <a:p>
            <a:r>
              <a:rPr lang="ko-KR" altLang="en-US" sz="800"/>
              <a:t>        return logger</a:t>
            </a:r>
          </a:p>
          <a:p>
            <a:endParaRPr lang="ko-KR" altLang="en-US" sz="800"/>
          </a:p>
          <a:p>
            <a:r>
              <a:rPr lang="ko-KR" altLang="en-US" sz="800"/>
              <a:t>    formatter = logging.Formatter("%(asctime)s [%(levelname)s] %(message)s")</a:t>
            </a:r>
          </a:p>
          <a:p>
            <a:endParaRPr lang="ko-KR" altLang="en-US" sz="800"/>
          </a:p>
          <a:p>
            <a:r>
              <a:rPr lang="ko-KR" altLang="en-US" sz="800"/>
              <a:t>    # 파일 핸들러</a:t>
            </a:r>
          </a:p>
          <a:p>
            <a:r>
              <a:rPr lang="ko-KR" altLang="en-US" sz="800"/>
              <a:t>    try:</a:t>
            </a:r>
          </a:p>
          <a:p>
            <a:r>
              <a:rPr lang="ko-KR" altLang="en-US" sz="800"/>
              <a:t>        log_filename = f"smart_cms.log"</a:t>
            </a:r>
          </a:p>
          <a:p>
            <a:r>
              <a:rPr lang="ko-KR" altLang="en-US" sz="800"/>
              <a:t>        file_handler = RotatingFileHandler(</a:t>
            </a:r>
          </a:p>
          <a:p>
            <a:r>
              <a:rPr lang="ko-KR" altLang="en-US" sz="800"/>
              <a:t>            os.path.join(log_dir, log_filename),</a:t>
            </a:r>
          </a:p>
          <a:p>
            <a:r>
              <a:rPr lang="ko-KR" altLang="en-US" sz="800"/>
              <a:t>            maxBytes=max_mb * 1024 * 1024,</a:t>
            </a:r>
          </a:p>
          <a:p>
            <a:r>
              <a:rPr lang="ko-KR" altLang="en-US" sz="800"/>
              <a:t>            backupCount=backup_count,</a:t>
            </a:r>
          </a:p>
          <a:p>
            <a:r>
              <a:rPr lang="ko-KR" altLang="en-US" sz="800"/>
              <a:t>            encoding="utf-8"</a:t>
            </a:r>
          </a:p>
          <a:p>
            <a:r>
              <a:rPr lang="ko-KR" altLang="en-US" sz="800"/>
              <a:t>        )</a:t>
            </a:r>
          </a:p>
          <a:p>
            <a:r>
              <a:rPr lang="ko-KR" altLang="en-US" sz="800"/>
              <a:t>        file_handler.setFormatter(formatter)</a:t>
            </a:r>
          </a:p>
          <a:p>
            <a:r>
              <a:rPr lang="ko-KR" altLang="en-US" sz="800"/>
              <a:t>        logger.addHandler(file_handler)</a:t>
            </a:r>
          </a:p>
          <a:p>
            <a:r>
              <a:rPr lang="ko-KR" altLang="en-US" sz="800"/>
              <a:t>    except Exception as e:</a:t>
            </a:r>
          </a:p>
          <a:p>
            <a:r>
              <a:rPr lang="ko-KR" altLang="en-US" sz="800"/>
              <a:t>        print(f"❌ 로깅 파일 핸들러 설정 실패: {e}")</a:t>
            </a:r>
          </a:p>
          <a:p>
            <a:endParaRPr lang="ko-KR" altLang="en-US" sz="800"/>
          </a:p>
          <a:p>
            <a:r>
              <a:rPr lang="ko-KR" altLang="en-US" sz="800"/>
              <a:t>    # 콘솔 핸들러</a:t>
            </a:r>
          </a:p>
          <a:p>
            <a:r>
              <a:rPr lang="ko-KR" altLang="en-US" sz="800"/>
              <a:t>    console_handler = logging.StreamHandler()</a:t>
            </a:r>
          </a:p>
          <a:p>
            <a:r>
              <a:rPr lang="ko-KR" altLang="en-US" sz="800"/>
              <a:t>    console_handler.setFormatter(formatter)</a:t>
            </a:r>
          </a:p>
          <a:p>
            <a:r>
              <a:rPr lang="ko-KR" altLang="en-US" sz="800"/>
              <a:t>    logger.addHandler(console_handler)</a:t>
            </a:r>
          </a:p>
          <a:p>
            <a:endParaRPr lang="ko-KR" altLang="en-US" sz="800"/>
          </a:p>
          <a:p>
            <a:r>
              <a:rPr lang="ko-KR" altLang="en-US" sz="800"/>
              <a:t>    return logger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def read_cms(SignalID, now):</a:t>
            </a:r>
          </a:p>
          <a:p>
            <a:r>
              <a:rPr lang="ko-KR" altLang="en-US" sz="800"/>
              <a:t>    now_str = now.strftime("%Y-%m-%d %H:%M:%S")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query = f"""</a:t>
            </a:r>
          </a:p>
          <a:p>
            <a:r>
              <a:rPr lang="ko-KR" altLang="en-US" sz="800"/>
              <a:t>        SELECT DataDate, VelAve</a:t>
            </a:r>
          </a:p>
          <a:p>
            <a:r>
              <a:rPr lang="ko-KR" altLang="en-US" sz="800"/>
              <a:t>        FROM FacilitiesMeasureHourly</a:t>
            </a:r>
          </a:p>
          <a:p>
            <a:r>
              <a:rPr lang="ko-KR" altLang="en-US" sz="800"/>
              <a:t>        WHERE SignalID = {SignalID}</a:t>
            </a:r>
          </a:p>
          <a:p>
            <a:r>
              <a:rPr lang="ko-KR" altLang="en-US" sz="800"/>
              <a:t>            AND DataDate &gt; DATEADD(DAY, -21, '{now_str}')</a:t>
            </a:r>
          </a:p>
          <a:p>
            <a:r>
              <a:rPr lang="ko-KR" altLang="en-US" sz="800"/>
              <a:t>            AND DataDate &lt;= '{now_str}'</a:t>
            </a:r>
          </a:p>
          <a:p>
            <a:r>
              <a:rPr lang="ko-KR" altLang="en-US" sz="800"/>
              <a:t>        ORDER BY DataDate ASC</a:t>
            </a:r>
          </a:p>
          <a:p>
            <a:r>
              <a:rPr lang="ko-KR" altLang="en-US" sz="800"/>
              <a:t>        """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return db_reader.read_db(query).set_index(['DataDate'])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def moving_slope(cms):</a:t>
            </a:r>
          </a:p>
          <a:p>
            <a:r>
              <a:rPr lang="ko-KR" altLang="en-US" sz="800"/>
              <a:t>    data = cms.copy()</a:t>
            </a:r>
          </a:p>
          <a:p>
            <a:endParaRPr lang="ko-KR" altLang="en-US" sz="800"/>
          </a:p>
          <a:p>
            <a:r>
              <a:rPr lang="ko-KR" altLang="en-US" sz="800"/>
              <a:t>    # 이동 평균 적용 (노이즈 제거)</a:t>
            </a:r>
          </a:p>
          <a:p>
            <a:r>
              <a:rPr lang="ko-KR" altLang="en-US" sz="800"/>
              <a:t>    window_size = 24 * 3  ## 수정 가능 Parameter</a:t>
            </a:r>
          </a:p>
          <a:p>
            <a:r>
              <a:rPr lang="ko-KR" altLang="en-US" sz="800"/>
              <a:t>    data['smoothed'] = data['restored'].rolling(window=window_size).mean()</a:t>
            </a:r>
          </a:p>
          <a:p>
            <a:endParaRPr lang="ko-KR" altLang="en-US" sz="800"/>
          </a:p>
          <a:p>
            <a:r>
              <a:rPr lang="ko-KR" altLang="en-US" sz="800"/>
              <a:t>    # 기울기 계산 함수 (최근 N개 데이터의 추세 확인)</a:t>
            </a:r>
          </a:p>
          <a:p>
            <a:r>
              <a:rPr lang="ko-KR" altLang="en-US" sz="800"/>
              <a:t>    def get_trend(data):</a:t>
            </a:r>
          </a:p>
          <a:p>
            <a:r>
              <a:rPr lang="ko-KR" altLang="en-US" sz="800"/>
              <a:t>        x = np.arange(len(data))</a:t>
            </a:r>
          </a:p>
          <a:p>
            <a:r>
              <a:rPr lang="ko-KR" altLang="en-US" sz="800"/>
              <a:t>        slope, intercept, r_value, p_value, std_err = linregress(x, data)</a:t>
            </a:r>
          </a:p>
          <a:p>
            <a:r>
              <a:rPr lang="ko-KR" altLang="en-US" sz="800"/>
              <a:t>        return slope</a:t>
            </a:r>
          </a:p>
          <a:p>
            <a:endParaRPr lang="ko-KR" altLang="en-US" sz="800"/>
          </a:p>
          <a:p>
            <a:r>
              <a:rPr lang="ko-KR" altLang="en-US" sz="800"/>
              <a:t>    # 슬라이딩 윈도우로 기울기 계산</a:t>
            </a:r>
          </a:p>
          <a:p>
            <a:r>
              <a:rPr lang="ko-KR" altLang="en-US" sz="800"/>
              <a:t>    trend_window = window_size</a:t>
            </a:r>
          </a:p>
          <a:p>
            <a:r>
              <a:rPr lang="ko-KR" altLang="en-US" sz="800"/>
              <a:t>    data['slope'] = data['smoothed'].rolling(window=trend_window).apply(get_trend)</a:t>
            </a:r>
          </a:p>
          <a:p>
            <a:endParaRPr lang="ko-KR" altLang="en-US" sz="800"/>
          </a:p>
          <a:p>
            <a:r>
              <a:rPr lang="ko-KR" altLang="en-US" sz="800"/>
              <a:t>    # 상승 추세 판단</a:t>
            </a:r>
          </a:p>
          <a:p>
            <a:r>
              <a:rPr lang="ko-KR" altLang="en-US" sz="800"/>
              <a:t>    threshold = 1/(24 * 14) ## 14일 이내 1mm/s 이상 상승 (수정 가능 Parameter)</a:t>
            </a:r>
          </a:p>
          <a:p>
            <a:r>
              <a:rPr lang="ko-KR" altLang="en-US" sz="800"/>
              <a:t>    data['is_rising'] = data['slope'] &gt; threshold</a:t>
            </a:r>
          </a:p>
          <a:p>
            <a:endParaRPr lang="ko-KR" altLang="en-US" sz="800"/>
          </a:p>
          <a:p>
            <a:r>
              <a:rPr lang="ko-KR" altLang="en-US" sz="800"/>
              <a:t>    change_point = None</a:t>
            </a:r>
          </a:p>
          <a:p>
            <a:r>
              <a:rPr lang="ko-KR" altLang="en-US" sz="800"/>
              <a:t>    if sum(data['is_rising'] == True) &gt; 0:</a:t>
            </a:r>
          </a:p>
          <a:p>
            <a:r>
              <a:rPr lang="ko-KR" altLang="en-US" sz="800"/>
              <a:t>        change_point = data[data['is_rising'] == True].index[0]</a:t>
            </a:r>
          </a:p>
          <a:p>
            <a:endParaRPr lang="ko-KR" altLang="en-US" sz="800"/>
          </a:p>
          <a:p>
            <a:r>
              <a:rPr lang="ko-KR" altLang="en-US" sz="800"/>
              <a:t>    return data, threshold, change_point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def is_rising(cms):</a:t>
            </a:r>
          </a:p>
          <a:p>
            <a:r>
              <a:rPr lang="ko-KR" altLang="en-US" sz="800"/>
              <a:t>    # 설비 비가동 Data 전처리</a:t>
            </a:r>
          </a:p>
          <a:p>
            <a:r>
              <a:rPr lang="ko-KR" altLang="en-US" sz="800"/>
              <a:t>    mean = cms.mean()[0]</a:t>
            </a:r>
          </a:p>
          <a:p>
            <a:r>
              <a:rPr lang="ko-KR" altLang="en-US" sz="800"/>
              <a:t>    std = cms.std()[0]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cms['restored'] = cms['VelAve']</a:t>
            </a:r>
          </a:p>
          <a:p>
            <a:r>
              <a:rPr lang="ko-KR" altLang="en-US" sz="800"/>
              <a:t>    cms.loc[cms['VelAve'] &lt; mean - 3 * std, 'restored'] = np.nan</a:t>
            </a:r>
          </a:p>
          <a:p>
            <a:r>
              <a:rPr lang="ko-KR" altLang="en-US" sz="800"/>
              <a:t>    cms['restored'] = cms['restored'].interpolate(method='linear')</a:t>
            </a:r>
          </a:p>
          <a:p>
            <a:r>
              <a:rPr lang="ko-KR" altLang="en-US" sz="800"/>
              <a:t>    cms['restored'] = cms['restored'].ffill().bfill()</a:t>
            </a:r>
          </a:p>
          <a:p>
            <a:endParaRPr lang="ko-KR" altLang="en-US" sz="800"/>
          </a:p>
          <a:p>
            <a:r>
              <a:rPr lang="ko-KR" altLang="en-US" sz="800"/>
              <a:t>    cms_mslope, threshold_mslope, point_mslope = moving_slope(cms)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return cms_mslope['is_rising'].iloc[-1]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def send_data(host, port, data, max_retries=5):</a:t>
            </a:r>
          </a:p>
          <a:p>
            <a:r>
              <a:rPr lang="ko-KR" altLang="en-US" sz="800"/>
              <a:t>    retry_delay = 5  # 재시도 간격 (초 단위)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for attempt in range(1, max_retries + 1):</a:t>
            </a:r>
          </a:p>
          <a:p>
            <a:r>
              <a:rPr lang="ko-KR" altLang="en-US" sz="800"/>
              <a:t>        sock = None</a:t>
            </a:r>
          </a:p>
          <a:p>
            <a:r>
              <a:rPr lang="ko-KR" altLang="en-US" sz="800"/>
              <a:t>        try:</a:t>
            </a:r>
          </a:p>
          <a:p>
            <a:r>
              <a:rPr lang="ko-KR" altLang="en-US" sz="800"/>
              <a:t>            logger.info(f"연결 시도 중... ({attempt}/{max_retries})")</a:t>
            </a:r>
          </a:p>
          <a:p>
            <a:r>
              <a:rPr lang="ko-KR" altLang="en-US" sz="800"/>
              <a:t>            </a:t>
            </a:r>
          </a:p>
          <a:p>
            <a:r>
              <a:rPr lang="ko-KR" altLang="en-US" sz="800"/>
              <a:t>            # 소켓 생성 및 연결</a:t>
            </a:r>
          </a:p>
          <a:p>
            <a:r>
              <a:rPr lang="ko-KR" altLang="en-US" sz="800"/>
              <a:t>            sock = socket.socket(socket.AF_INET, socket.SOCK_STREAM)</a:t>
            </a:r>
          </a:p>
          <a:p>
            <a:r>
              <a:rPr lang="ko-KR" altLang="en-US" sz="800"/>
              <a:t>            sock.settimeout(5) # 연결 타임아웃</a:t>
            </a:r>
          </a:p>
          <a:p>
            <a:r>
              <a:rPr lang="ko-KR" altLang="en-US" sz="800"/>
              <a:t>            sock.connect((host, port))</a:t>
            </a:r>
          </a:p>
          <a:p>
            <a:r>
              <a:rPr lang="ko-KR" altLang="en-US" sz="800"/>
              <a:t>            </a:t>
            </a:r>
          </a:p>
          <a:p>
            <a:r>
              <a:rPr lang="ko-KR" altLang="en-US" sz="800"/>
              <a:t>            # 데이터 전송</a:t>
            </a:r>
          </a:p>
          <a:p>
            <a:r>
              <a:rPr lang="ko-KR" altLang="en-US" sz="800"/>
              <a:t>            ## [★중요★] 수신측(iba)는 LSB-first 해석하므로 송신 前 Byte 內 Bit 반전 필요</a:t>
            </a:r>
          </a:p>
          <a:p>
            <a:r>
              <a:rPr lang="ko-KR" altLang="en-US" sz="800"/>
              <a:t>            data_reverse = bytes(int(f"{x:08b}"[::-1], 2) for x in data)</a:t>
            </a:r>
          </a:p>
          <a:p>
            <a:r>
              <a:rPr lang="ko-KR" altLang="en-US" sz="800"/>
              <a:t>            sock.sendall(data_reverse)</a:t>
            </a:r>
          </a:p>
          <a:p>
            <a:r>
              <a:rPr lang="ko-KR" altLang="en-US" sz="800"/>
              <a:t>            logger.info(f"데이터 전송 성공! (길이: {byte_len} bytes, {bit_len} bits)")</a:t>
            </a:r>
          </a:p>
          <a:p>
            <a:r>
              <a:rPr lang="ko-KR" altLang="en-US" sz="800"/>
              <a:t>            logger.info(f"전송된 값(이진수): {''.join(f'{b:08b}' for b in data)}")</a:t>
            </a:r>
          </a:p>
          <a:p>
            <a:r>
              <a:rPr lang="ko-KR" altLang="en-US" sz="800"/>
              <a:t>            time.sleep(1)</a:t>
            </a:r>
          </a:p>
          <a:p>
            <a:r>
              <a:rPr lang="ko-KR" altLang="en-US" sz="800"/>
              <a:t>            </a:t>
            </a:r>
          </a:p>
          <a:p>
            <a:r>
              <a:rPr lang="ko-KR" altLang="en-US" sz="800"/>
              <a:t>            return True # 성공 시 함수 종료</a:t>
            </a:r>
          </a:p>
          <a:p>
            <a:r>
              <a:rPr lang="ko-KR" altLang="en-US" sz="800"/>
              <a:t>            </a:t>
            </a:r>
          </a:p>
          <a:p>
            <a:r>
              <a:rPr lang="ko-KR" altLang="en-US" sz="800"/>
              <a:t>        except Exception as e:</a:t>
            </a:r>
          </a:p>
          <a:p>
            <a:r>
              <a:rPr lang="ko-KR" altLang="en-US" sz="800"/>
              <a:t>            exc_type, exc_obj, exc_tb = sys.exc_info()</a:t>
            </a:r>
          </a:p>
          <a:p>
            <a:r>
              <a:rPr lang="ko-KR" altLang="en-US" sz="800"/>
              <a:t>            line_no = exc_tb.tb_lineno</a:t>
            </a:r>
          </a:p>
          <a:p>
            <a:r>
              <a:rPr lang="ko-KR" altLang="en-US" sz="800"/>
              <a:t>            logger.info(f"전송 실패 (시도 {attempt}/{max_retries}): {e}, {line_no}")</a:t>
            </a:r>
          </a:p>
          <a:p>
            <a:r>
              <a:rPr lang="ko-KR" altLang="en-US" sz="800"/>
              <a:t>            </a:t>
            </a:r>
          </a:p>
          <a:p>
            <a:r>
              <a:rPr lang="ko-KR" altLang="en-US" sz="800"/>
              <a:t>            # 마지막 시도가 아니면 대기 후 재시도</a:t>
            </a:r>
          </a:p>
          <a:p>
            <a:r>
              <a:rPr lang="ko-KR" altLang="en-US" sz="800"/>
              <a:t>            if attempt &lt; max_retries:</a:t>
            </a:r>
          </a:p>
          <a:p>
            <a:r>
              <a:rPr lang="ko-KR" altLang="en-US" sz="800"/>
              <a:t>                logger.info(f"{retry_delay}초 후 재시도합니다...")</a:t>
            </a:r>
          </a:p>
          <a:p>
            <a:r>
              <a:rPr lang="ko-KR" altLang="en-US" sz="800"/>
              <a:t>                time.sleep(retry_delay)</a:t>
            </a:r>
          </a:p>
          <a:p>
            <a:r>
              <a:rPr lang="ko-KR" altLang="en-US" sz="800"/>
              <a:t>            else:</a:t>
            </a:r>
          </a:p>
          <a:p>
            <a:r>
              <a:rPr lang="ko-KR" altLang="en-US" sz="800"/>
              <a:t>                logger.info("최대 재시도 횟수를 초과했습니다. 전송을 포기합니다.")</a:t>
            </a:r>
          </a:p>
          <a:p>
            <a:r>
              <a:rPr lang="ko-KR" altLang="en-US" sz="800"/>
              <a:t>                </a:t>
            </a:r>
          </a:p>
          <a:p>
            <a:r>
              <a:rPr lang="ko-KR" altLang="en-US" sz="800"/>
              <a:t>        finally:</a:t>
            </a:r>
          </a:p>
          <a:p>
            <a:r>
              <a:rPr lang="ko-KR" altLang="en-US" sz="800"/>
              <a:t>            # 소켓이 생성되었다면 닫기</a:t>
            </a:r>
          </a:p>
          <a:p>
            <a:r>
              <a:rPr lang="ko-KR" altLang="en-US" sz="800"/>
              <a:t>            if sock:</a:t>
            </a:r>
          </a:p>
          <a:p>
            <a:r>
              <a:rPr lang="ko-KR" altLang="en-US" sz="800"/>
              <a:t>                logger.info("TCP 소켓 종료")</a:t>
            </a:r>
          </a:p>
          <a:p>
            <a:r>
              <a:rPr lang="ko-KR" altLang="en-US" sz="800"/>
              <a:t>                sock.close()</a:t>
            </a:r>
          </a:p>
          <a:p>
            <a:r>
              <a:rPr lang="ko-KR" altLang="en-US" sz="800"/>
              <a:t>                </a:t>
            </a:r>
          </a:p>
          <a:p>
            <a:r>
              <a:rPr lang="ko-KR" altLang="en-US" sz="800"/>
              <a:t>    return False # 모든 재시도 실패 시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def send_html_email_from_file(html_file_path, plant_name, now, to):</a:t>
            </a:r>
          </a:p>
          <a:p>
            <a:r>
              <a:rPr lang="ko-KR" altLang="en-US" sz="800"/>
              <a:t>    now_str = now.strftime("%y.%m.%d %H")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# 1. HTML 파일 존재 여부 확인 및 읽기</a:t>
            </a:r>
          </a:p>
          <a:p>
            <a:r>
              <a:rPr lang="ko-KR" altLang="en-US" sz="800"/>
              <a:t>    if not os.path.exists(html_file_path):</a:t>
            </a:r>
          </a:p>
          <a:p>
            <a:r>
              <a:rPr lang="ko-KR" altLang="en-US" sz="800"/>
              <a:t>        logger.info(f"❌ 오류: 지정한 경로에 HTML 파일이 없습니다. 경로를 확인해주세요: {html_file_path}")</a:t>
            </a:r>
          </a:p>
          <a:p>
            <a:r>
              <a:rPr lang="ko-KR" altLang="en-US" sz="800"/>
              <a:t>        return</a:t>
            </a:r>
          </a:p>
          <a:p>
            <a:endParaRPr lang="ko-KR" altLang="en-US" sz="800"/>
          </a:p>
          <a:p>
            <a:r>
              <a:rPr lang="ko-KR" altLang="en-US" sz="800"/>
              <a:t>    try:</a:t>
            </a:r>
          </a:p>
          <a:p>
            <a:r>
              <a:rPr lang="ko-KR" altLang="en-US" sz="800"/>
              <a:t>        # 파일을 읽을 때 반드시 encoding='utf-8'을 지정해야 한글이 깨지지 않습니다.</a:t>
            </a:r>
          </a:p>
          <a:p>
            <a:r>
              <a:rPr lang="ko-KR" altLang="en-US" sz="800"/>
              <a:t>        with open(html_file_path, 'r', encoding='utf-8') as file:</a:t>
            </a:r>
          </a:p>
          <a:p>
            <a:r>
              <a:rPr lang="ko-KR" altLang="en-US" sz="800"/>
              <a:t>            html_content = file.read()</a:t>
            </a:r>
          </a:p>
          <a:p>
            <a:r>
              <a:rPr lang="ko-KR" altLang="en-US" sz="800"/>
              <a:t>    except Exception as e:</a:t>
            </a:r>
          </a:p>
          <a:p>
            <a:r>
              <a:rPr lang="ko-KR" altLang="en-US" sz="800"/>
              <a:t>        logger.info(f"❌ 파일 읽기 실패: {e}")</a:t>
            </a:r>
          </a:p>
          <a:p>
            <a:r>
              <a:rPr lang="ko-KR" altLang="en-US" sz="800"/>
              <a:t>        return</a:t>
            </a:r>
          </a:p>
          <a:p>
            <a:endParaRPr lang="ko-KR" altLang="en-US" sz="800"/>
          </a:p>
          <a:p>
            <a:r>
              <a:rPr lang="ko-KR" altLang="en-US" sz="800"/>
              <a:t>    # 2. SMTP 서버 설정</a:t>
            </a:r>
          </a:p>
          <a:p>
            <a:r>
              <a:rPr lang="ko-KR" altLang="en-US" sz="800"/>
              <a:t>    smtp_server = "172.18.109.203"</a:t>
            </a:r>
          </a:p>
          <a:p>
            <a:r>
              <a:rPr lang="ko-KR" altLang="en-US" sz="800"/>
              <a:t>    smtp_port = 25000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# 3. 송수신자 및 메일 제목 설정</a:t>
            </a:r>
          </a:p>
          <a:p>
            <a:r>
              <a:rPr lang="ko-KR" altLang="en-US" sz="800"/>
              <a:t>    sender_email = "pimc@posco.com"      # 보내는 사람 이메일</a:t>
            </a:r>
          </a:p>
          <a:p>
            <a:r>
              <a:rPr lang="ko-KR" altLang="en-US" sz="800"/>
              <a:t>    receiver_email = to</a:t>
            </a:r>
          </a:p>
          <a:p>
            <a:r>
              <a:rPr lang="ko-KR" altLang="en-US" sz="800"/>
              <a:t>    subject = f"[CMS 일일 속보] {plant_name} 공장 진동 상승 경향 모니터링 결과 ('{now_str}시 기준)"</a:t>
            </a:r>
          </a:p>
          <a:p>
            <a:endParaRPr lang="ko-KR" altLang="en-US" sz="800"/>
          </a:p>
          <a:p>
            <a:r>
              <a:rPr lang="ko-KR" altLang="en-US" sz="800"/>
              <a:t>    # 4. 이메일 메시지 컨테이너 생성</a:t>
            </a:r>
          </a:p>
          <a:p>
            <a:r>
              <a:rPr lang="ko-KR" altLang="en-US" sz="800"/>
              <a:t>    msg = MIMEMultipart('alternative')</a:t>
            </a:r>
          </a:p>
          <a:p>
            <a:r>
              <a:rPr lang="ko-KR" altLang="en-US" sz="800"/>
              <a:t>    msg['Subject'] = subject</a:t>
            </a:r>
          </a:p>
          <a:p>
            <a:r>
              <a:rPr lang="ko-KR" altLang="en-US" sz="800"/>
              <a:t>    msg['From'] = sender_email</a:t>
            </a:r>
          </a:p>
          <a:p>
            <a:r>
              <a:rPr lang="ko-KR" altLang="en-US" sz="800"/>
              <a:t>    msg['To'] = ", ".join(receiver_email) </a:t>
            </a:r>
          </a:p>
          <a:p>
            <a:endParaRPr lang="ko-KR" altLang="en-US" sz="800"/>
          </a:p>
          <a:p>
            <a:r>
              <a:rPr lang="ko-KR" altLang="en-US" sz="800"/>
              <a:t>    # 5. 읽어온 HTML 내용을 MIMEText 객체로 변환</a:t>
            </a:r>
          </a:p>
          <a:p>
            <a:r>
              <a:rPr lang="ko-KR" altLang="en-US" sz="800"/>
              <a:t>    html_part = MIMEText(html_content, 'html', 'utf-8')</a:t>
            </a:r>
          </a:p>
          <a:p>
            <a:r>
              <a:rPr lang="ko-KR" altLang="en-US" sz="800"/>
              <a:t>    msg.attach(html_part)</a:t>
            </a:r>
          </a:p>
          <a:p>
            <a:endParaRPr lang="ko-KR" altLang="en-US" sz="800"/>
          </a:p>
          <a:p>
            <a:r>
              <a:rPr lang="ko-KR" altLang="en-US" sz="800"/>
              <a:t>    # 6. SMTP 서버 연결 및 메일 발송</a:t>
            </a:r>
          </a:p>
          <a:p>
            <a:r>
              <a:rPr lang="ko-KR" altLang="en-US" sz="800"/>
              <a:t>    try:</a:t>
            </a:r>
          </a:p>
          <a:p>
            <a:r>
              <a:rPr lang="ko-KR" altLang="en-US" sz="800"/>
              <a:t>        logger.info(f"SMTP 서버({smtp_server}:{smtp_port})에 연결 중...")</a:t>
            </a:r>
          </a:p>
          <a:p>
            <a:r>
              <a:rPr lang="ko-KR" altLang="en-US" sz="800"/>
              <a:t>        server = smtplib.SMTP(smtp_server, smtp_port)</a:t>
            </a:r>
          </a:p>
          <a:p>
            <a:endParaRPr lang="ko-KR" altLang="en-US" sz="800"/>
          </a:p>
          <a:p>
            <a:r>
              <a:rPr lang="ko-KR" altLang="en-US" sz="800"/>
              <a:t>        server.sendmail(sender_email, receiver_email, msg.as_string())</a:t>
            </a:r>
          </a:p>
          <a:p>
            <a:r>
              <a:rPr lang="ko-KR" altLang="en-US" sz="800"/>
              <a:t>        logger.info("✅ 메일이 성공적으로 발송되었습니다!")</a:t>
            </a:r>
          </a:p>
          <a:p>
            <a:endParaRPr lang="ko-KR" altLang="en-US" sz="800"/>
          </a:p>
          <a:p>
            <a:r>
              <a:rPr lang="ko-KR" altLang="en-US" sz="800"/>
              <a:t>    except Exception as e:</a:t>
            </a:r>
          </a:p>
          <a:p>
            <a:r>
              <a:rPr lang="ko-KR" altLang="en-US" sz="800"/>
              <a:t>        logger.info(f"❌ 메일 발송 실패: {e}")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finally:</a:t>
            </a:r>
          </a:p>
          <a:p>
            <a:r>
              <a:rPr lang="ko-KR" altLang="en-US" sz="800"/>
              <a:t>        try:</a:t>
            </a:r>
          </a:p>
          <a:p>
            <a:r>
              <a:rPr lang="ko-KR" altLang="en-US" sz="800"/>
              <a:t>            server.quit()</a:t>
            </a:r>
          </a:p>
          <a:p>
            <a:r>
              <a:rPr lang="ko-KR" altLang="en-US" sz="800"/>
              <a:t>        except:</a:t>
            </a:r>
          </a:p>
          <a:p>
            <a:r>
              <a:rPr lang="ko-KR" altLang="en-US" sz="800"/>
              <a:t>            pass</a:t>
            </a:r>
          </a:p>
          <a:p>
            <a:endParaRPr lang="ko-KR" altLang="en-US" sz="800"/>
          </a:p>
          <a:p>
            <a:r>
              <a:rPr lang="ko-KR" altLang="en-US" sz="800"/>
              <a:t>#######################################################################################################</a:t>
            </a:r>
          </a:p>
          <a:p>
            <a:endParaRPr lang="ko-KR" altLang="en-US" sz="800"/>
          </a:p>
          <a:p>
            <a:r>
              <a:rPr lang="ko-KR" altLang="en-US" sz="800"/>
              <a:t># 함수 실행</a:t>
            </a:r>
          </a:p>
          <a:p>
            <a:r>
              <a:rPr lang="ko-KR" altLang="en-US" sz="800"/>
              <a:t>if __name__ == "__main__":</a:t>
            </a:r>
          </a:p>
          <a:p>
            <a:r>
              <a:rPr lang="ko-KR" altLang="en-US" sz="800"/>
              <a:t>    server_port = 14842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now = pd.Timestamp.now()</a:t>
            </a:r>
          </a:p>
          <a:p>
            <a:r>
              <a:rPr lang="ko-KR" altLang="en-US" sz="800"/>
              <a:t>    is_mail_time = now.hour in [7, 7]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base_dir = os.getcwd()</a:t>
            </a:r>
          </a:p>
          <a:p>
            <a:r>
              <a:rPr lang="ko-KR" altLang="en-US" sz="800"/>
              <a:t>    log_dir = os.path.join(base_dir, "logs")</a:t>
            </a:r>
          </a:p>
          <a:p>
            <a:r>
              <a:rPr lang="ko-KR" altLang="en-US" sz="800"/>
              <a:t>    os.makedirs(log_dir, exist_ok=True)</a:t>
            </a:r>
          </a:p>
          <a:p>
            <a:r>
              <a:rPr lang="ko-KR" altLang="en-US" sz="800"/>
              <a:t>    logger = setup_logging(log_dir)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config_path = os.path.join(base_dir, "config.json")</a:t>
            </a:r>
          </a:p>
          <a:p>
            <a:r>
              <a:rPr lang="ko-KR" altLang="en-US" sz="800"/>
              <a:t>    config_loader = DBConfigLoader(config_path)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    folder_dir = os.path.join(base_dir, "Plant")</a:t>
            </a:r>
          </a:p>
          <a:p>
            <a:r>
              <a:rPr lang="ko-KR" altLang="en-US" sz="800"/>
              <a:t>    plant_list = [x for x in os.listdir(folder_dir) if '.xlsx' in x]</a:t>
            </a:r>
          </a:p>
          <a:p>
            <a:r>
              <a:rPr lang="ko-KR" altLang="en-US" sz="800"/>
              <a:t>    </a:t>
            </a:r>
          </a:p>
          <a:p>
            <a:r>
              <a:rPr lang="ko-KR" altLang="en-US" sz="800"/>
              <a:t>#     for plant in plant_list:</a:t>
            </a:r>
          </a:p>
          <a:p>
            <a:r>
              <a:rPr lang="ko-KR" altLang="en-US" sz="800"/>
              <a:t>    for plant in ['1PCM.xlsx']:</a:t>
            </a:r>
          </a:p>
          <a:p>
            <a:r>
              <a:rPr lang="ko-KR" altLang="en-US" sz="800"/>
              <a:t>        plant_name = plant[:-5]</a:t>
            </a:r>
          </a:p>
          <a:p>
            <a:r>
              <a:rPr lang="ko-KR" altLang="en-US" sz="800"/>
              <a:t>        server_ip = config_loader.get_items(plant_name, 'pims_ip')</a:t>
            </a:r>
          </a:p>
          <a:p>
            <a:r>
              <a:rPr lang="ko-KR" altLang="en-US" sz="800"/>
              <a:t>                </a:t>
            </a:r>
          </a:p>
          <a:p>
            <a:r>
              <a:rPr lang="ko-KR" altLang="en-US" sz="800"/>
              <a:t>        db_reader = DBReader(config_loader.get_conn_str(plant_name))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    logger.info(f"✅ 성공! '{plant_name}' 공장 CMS DB 연결이 정상적으로 처리되었습니다.")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    sensor_list = pd.read_excel(os.path.join(folder_dir, plant), header=None).values.reshape(-1).tolist()</a:t>
            </a:r>
          </a:p>
          <a:p>
            <a:r>
              <a:rPr lang="ko-KR" altLang="en-US" sz="800"/>
              <a:t>        formatted_tags = [f"V{num:03d}" for num in sensor_list]</a:t>
            </a:r>
          </a:p>
          <a:p>
            <a:r>
              <a:rPr lang="ko-KR" altLang="en-US" sz="800"/>
              <a:t>        #tag_string = ', '.join([f"'{tag}'" for tag in formatted_tags])</a:t>
            </a:r>
          </a:p>
          <a:p>
            <a:endParaRPr lang="ko-KR" altLang="en-US" sz="800"/>
          </a:p>
          <a:p>
            <a:r>
              <a:rPr lang="ko-KR" altLang="en-US" sz="800"/>
              <a:t>        query_1 = f"SELECT SignalID, FacilitiesID, TAGNo FROM SignalMaster"</a:t>
            </a:r>
          </a:p>
          <a:p>
            <a:r>
              <a:rPr lang="ko-KR" altLang="en-US" sz="800"/>
              <a:t>        SignalMaster = db_reader.read_db(query_1)</a:t>
            </a:r>
          </a:p>
          <a:p>
            <a:r>
              <a:rPr lang="ko-KR" altLang="en-US" sz="800"/>
              <a:t>        SignalMaster_ = SignalMaster[SignalMaster['TAGNo'].isin(formatted_tags)].reset_index(drop=True)</a:t>
            </a:r>
          </a:p>
          <a:p>
            <a:r>
              <a:rPr lang="ko-KR" altLang="en-US" sz="800"/>
              <a:t>        #missing_tags = [tag for tag in formatted_tags if tag not in SignalMaster['TAGNo'].values]</a:t>
            </a:r>
          </a:p>
          <a:p>
            <a:endParaRPr lang="ko-KR" altLang="en-US" sz="800"/>
          </a:p>
          <a:p>
            <a:r>
              <a:rPr lang="ko-KR" altLang="en-US" sz="800"/>
              <a:t>        query_2 = "SELECT FacilitiesID, HierarchyName FROM FacilitiesHierarchy"</a:t>
            </a:r>
          </a:p>
          <a:p>
            <a:r>
              <a:rPr lang="ko-KR" altLang="en-US" sz="800"/>
              <a:t>        FacilitiesHierarchy = db_reader.read_db(query_2)</a:t>
            </a:r>
          </a:p>
          <a:p>
            <a:endParaRPr lang="ko-KR" altLang="en-US" sz="800"/>
          </a:p>
          <a:p>
            <a:r>
              <a:rPr lang="ko-KR" altLang="en-US" sz="800"/>
              <a:t>        SignalMaster_ = SignalMaster_.merge(FacilitiesHierarchy, on='FacilitiesID', how='left')</a:t>
            </a:r>
          </a:p>
          <a:p>
            <a:r>
              <a:rPr lang="ko-KR" altLang="en-US" sz="800"/>
              <a:t>        SignalMaster_ = SignalMaster_.sort_values(by='TAGNo', ascending=True).reset_index(drop=True)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    logger.info(f"✅ 성공! 'SignalMaster' 기본 정보 처리가 완료되었습니다.")</a:t>
            </a:r>
          </a:p>
          <a:p>
            <a:endParaRPr lang="ko-KR" altLang="en-US" sz="800"/>
          </a:p>
          <a:p>
            <a:r>
              <a:rPr lang="ko-KR" altLang="en-US" sz="800"/>
              <a:t>        all_datasets = []</a:t>
            </a:r>
          </a:p>
          <a:p>
            <a:r>
              <a:rPr lang="ko-KR" altLang="en-US" sz="800"/>
              <a:t>        rising_list = []</a:t>
            </a:r>
          </a:p>
          <a:p>
            <a:endParaRPr lang="ko-KR" altLang="en-US" sz="800"/>
          </a:p>
          <a:p>
            <a:r>
              <a:rPr lang="ko-KR" altLang="en-US" sz="800"/>
              <a:t>        for i in range(len(SignalMaster_)):</a:t>
            </a:r>
          </a:p>
          <a:p>
            <a:r>
              <a:rPr lang="ko-KR" altLang="en-US" sz="800"/>
              <a:t>            try:</a:t>
            </a:r>
          </a:p>
          <a:p>
            <a:r>
              <a:rPr lang="ko-KR" altLang="en-US" sz="800"/>
              <a:t>                SignalID = SignalMaster_.loc[i, "SignalID"]</a:t>
            </a:r>
          </a:p>
          <a:p>
            <a:r>
              <a:rPr lang="ko-KR" altLang="en-US" sz="800"/>
              <a:t>                FacilitiesName = ' - '.join(SignalMaster_.loc[i, "HierarchyName"].split('~')[1:-1]) + f' ({SignalMaster_.iloc[i,:].TAGNo})'</a:t>
            </a:r>
          </a:p>
          <a:p>
            <a:r>
              <a:rPr lang="ko-KR" altLang="en-US" sz="800"/>
              <a:t>                cms = read_cms(SignalID, now)</a:t>
            </a:r>
          </a:p>
          <a:p>
            <a:endParaRPr lang="ko-KR" altLang="en-US" sz="800"/>
          </a:p>
          <a:p>
            <a:r>
              <a:rPr lang="ko-KR" altLang="en-US" sz="800"/>
              <a:t>                rising_bool = is_rising(cms)</a:t>
            </a:r>
          </a:p>
          <a:p>
            <a:r>
              <a:rPr lang="ko-KR" altLang="en-US" sz="800"/>
              <a:t>                rising_list.append(rising_bool)</a:t>
            </a:r>
          </a:p>
          <a:p>
            <a:endParaRPr lang="ko-KR" altLang="en-US" sz="800"/>
          </a:p>
          <a:p>
            <a:r>
              <a:rPr lang="ko-KR" altLang="en-US" sz="800"/>
              <a:t>                if is_mail_time: ## is_mail_time: ## 07~08시 사이 메일링 작동</a:t>
            </a:r>
          </a:p>
          <a:p>
            <a:r>
              <a:rPr lang="ko-KR" altLang="en-US" sz="800"/>
              <a:t>                    # DataDate가 인덱스인 경우를 대비해 reset_index() 사용</a:t>
            </a:r>
          </a:p>
          <a:p>
            <a:r>
              <a:rPr lang="ko-KR" altLang="en-US" sz="800"/>
              <a:t>                    df_tmp = cms.reset_index()</a:t>
            </a:r>
          </a:p>
          <a:p>
            <a:endParaRPr lang="ko-KR" altLang="en-US" sz="800"/>
          </a:p>
          <a:p>
            <a:r>
              <a:rPr lang="ko-KR" altLang="en-US" sz="800"/>
              <a:t>                    # NaN(결측치) 값을 JavaScript가 인식할 수 있는 None(null)으로 변환</a:t>
            </a:r>
          </a:p>
          <a:p>
            <a:r>
              <a:rPr lang="ko-KR" altLang="en-US" sz="800"/>
              <a:t>                    df_tmp = df_tmp.where(pd.notnull(df_tmp), None)</a:t>
            </a:r>
          </a:p>
          <a:p>
            <a:endParaRPr lang="ko-KR" altLang="en-US" sz="800"/>
          </a:p>
          <a:p>
            <a:r>
              <a:rPr lang="ko-KR" altLang="en-US" sz="800"/>
              <a:t>                    # 날짜 문자열 변환</a:t>
            </a:r>
          </a:p>
          <a:p>
            <a:r>
              <a:rPr lang="ko-KR" altLang="en-US" sz="800"/>
              <a:t>                    df_tmp['DataDate'] = df_tmp['DataDate'].astype(str)</a:t>
            </a:r>
          </a:p>
          <a:p>
            <a:endParaRPr lang="ko-KR" altLang="en-US" sz="800"/>
          </a:p>
          <a:p>
            <a:r>
              <a:rPr lang="ko-KR" altLang="en-US" sz="800"/>
              <a:t>                    dataset_dict = {</a:t>
            </a:r>
          </a:p>
          <a:p>
            <a:r>
              <a:rPr lang="ko-KR" altLang="en-US" sz="800"/>
              <a:t>                        "title": FacilitiesName,</a:t>
            </a:r>
          </a:p>
          <a:p>
            <a:r>
              <a:rPr lang="ko-KR" altLang="en-US" sz="800"/>
              <a:t>                        "labels": df_tmp['DataDate'].tolist(),</a:t>
            </a:r>
          </a:p>
          <a:p>
            <a:r>
              <a:rPr lang="ko-KR" altLang="en-US" sz="800"/>
              <a:t>                        "velAve": df_tmp['VelAve'].tolist()</a:t>
            </a:r>
          </a:p>
          <a:p>
            <a:r>
              <a:rPr lang="ko-KR" altLang="en-US" sz="800"/>
              <a:t>                    }</a:t>
            </a:r>
          </a:p>
          <a:p>
            <a:endParaRPr lang="ko-KR" altLang="en-US" sz="800"/>
          </a:p>
          <a:p>
            <a:r>
              <a:rPr lang="ko-KR" altLang="en-US" sz="800"/>
              <a:t>                    all_datasets.append(dataset_dict)</a:t>
            </a:r>
          </a:p>
          <a:p>
            <a:endParaRPr lang="ko-KR" altLang="en-US" sz="800"/>
          </a:p>
          <a:p>
            <a:r>
              <a:rPr lang="ko-KR" altLang="en-US" sz="800"/>
              <a:t>            except Exception as e:</a:t>
            </a:r>
          </a:p>
          <a:p>
            <a:r>
              <a:rPr lang="ko-KR" altLang="en-US" sz="800"/>
              <a:t>                logger.info(f"❌ 센서번호(V{SignalID:03d}) 전처리 실패: {e}")</a:t>
            </a:r>
          </a:p>
          <a:p>
            <a:r>
              <a:rPr lang="ko-KR" altLang="en-US" sz="800"/>
              <a:t>                continue</a:t>
            </a:r>
          </a:p>
          <a:p>
            <a:r>
              <a:rPr lang="ko-KR" altLang="en-US" sz="800"/>
              <a:t>                </a:t>
            </a:r>
          </a:p>
          <a:p>
            <a:r>
              <a:rPr lang="ko-KR" altLang="en-US" sz="800"/>
              <a:t>        ## 송신 Data 전처리 (True/False → Bit 처리 → Byte 처리)</a:t>
            </a:r>
          </a:p>
          <a:p>
            <a:r>
              <a:rPr lang="ko-KR" altLang="en-US" sz="800"/>
              <a:t>        bit_list = [1 if x else 0 for x in rising_list]</a:t>
            </a:r>
          </a:p>
          <a:p>
            <a:r>
              <a:rPr lang="ko-KR" altLang="en-US" sz="800"/>
              <a:t>        byte_len = math.ceil(len(bit_list) / 8)</a:t>
            </a:r>
          </a:p>
          <a:p>
            <a:r>
              <a:rPr lang="ko-KR" altLang="en-US" sz="800"/>
              <a:t>        bit_len = byte_len * 8</a:t>
            </a:r>
          </a:p>
          <a:p>
            <a:endParaRPr lang="ko-KR" altLang="en-US" sz="800"/>
          </a:p>
          <a:p>
            <a:r>
              <a:rPr lang="ko-KR" altLang="en-US" sz="800"/>
              <a:t>        # 8배수 비트로 패딩</a:t>
            </a:r>
          </a:p>
          <a:p>
            <a:r>
              <a:rPr lang="ko-KR" altLang="en-US" sz="800"/>
              <a:t>        bits = bit_list + [0] * (bit_len - len(bit_list))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    # 비트열을 정수로 만든 뒤 4바이트 변환 (MSB-first)</a:t>
            </a:r>
          </a:p>
          <a:p>
            <a:r>
              <a:rPr lang="ko-KR" altLang="en-US" sz="800"/>
              <a:t>        tcp_value = 0</a:t>
            </a:r>
          </a:p>
          <a:p>
            <a:r>
              <a:rPr lang="ko-KR" altLang="en-US" sz="800"/>
              <a:t>        for b in bits:</a:t>
            </a:r>
          </a:p>
          <a:p>
            <a:r>
              <a:rPr lang="ko-KR" altLang="en-US" sz="800"/>
              <a:t>            tcp_value = (tcp_value &lt;&lt; 1) | b</a:t>
            </a:r>
          </a:p>
          <a:p>
            <a:endParaRPr lang="ko-KR" altLang="en-US" sz="800"/>
          </a:p>
          <a:p>
            <a:r>
              <a:rPr lang="ko-KR" altLang="en-US" sz="800"/>
              <a:t>        byte_data = tcp_value.to_bytes(byte_len, byteorder="big")</a:t>
            </a:r>
          </a:p>
          <a:p>
            <a:r>
              <a:rPr lang="ko-KR" altLang="en-US" sz="800"/>
              <a:t>        send_data(server_ip, server_port, byte_data) ## Byte_Data 송신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    logger.info(f"✅ 성공! '{plant_name}' 공장 CMS Data 처리 &amp; 전송이 정상적으로 완료되었습니다.")</a:t>
            </a:r>
          </a:p>
          <a:p>
            <a:endParaRPr lang="ko-KR" altLang="en-US" sz="800"/>
          </a:p>
          <a:p>
            <a:r>
              <a:rPr lang="ko-KR" altLang="en-US" sz="800"/>
              <a:t>        if len(all_datasets) != 0:</a:t>
            </a:r>
          </a:p>
          <a:p>
            <a:r>
              <a:rPr lang="ko-KR" altLang="en-US" sz="800"/>
              <a:t>            multiple_datasets_js = json.dumps(all_datasets)</a:t>
            </a:r>
          </a:p>
          <a:p>
            <a:r>
              <a:rPr lang="ko-KR" altLang="en-US" sz="800"/>
              <a:t>            template_path = os.path.join(base_dir, "multi_dynamic_template.html")</a:t>
            </a:r>
          </a:p>
          <a:p>
            <a:r>
              <a:rPr lang="ko-KR" altLang="en-US" sz="800"/>
              <a:t>            dashboard_path = os.path.join(base_dir, "final_dashboard.html")</a:t>
            </a:r>
          </a:p>
          <a:p>
            <a:endParaRPr lang="ko-KR" altLang="en-US" sz="800"/>
          </a:p>
          <a:p>
            <a:r>
              <a:rPr lang="ko-KR" altLang="en-US" sz="800"/>
              <a:t>            try:</a:t>
            </a:r>
          </a:p>
          <a:p>
            <a:r>
              <a:rPr lang="ko-KR" altLang="en-US" sz="800"/>
              <a:t>                with open(template_path, 'r', encoding='utf-8') as file:</a:t>
            </a:r>
          </a:p>
          <a:p>
            <a:r>
              <a:rPr lang="ko-KR" altLang="en-US" sz="800"/>
              <a:t>                    html_content = file.read()</a:t>
            </a:r>
          </a:p>
          <a:p>
            <a:endParaRPr lang="ko-KR" altLang="en-US" sz="800"/>
          </a:p>
          <a:p>
            <a:r>
              <a:rPr lang="ko-KR" altLang="en-US" sz="800"/>
              <a:t>                # 단 하나의 치환 태그만 사용합니다.</a:t>
            </a:r>
          </a:p>
          <a:p>
            <a:r>
              <a:rPr lang="ko-KR" altLang="en-US" sz="800"/>
              <a:t>                html_content = html_content.replace('{{ MULTIPLE_DATASETS_JSON }}', multiple_datasets_js)</a:t>
            </a:r>
          </a:p>
          <a:p>
            <a:endParaRPr lang="ko-KR" altLang="en-US" sz="800"/>
          </a:p>
          <a:p>
            <a:r>
              <a:rPr lang="ko-KR" altLang="en-US" sz="800"/>
              <a:t>                with open(dashboard_path, 'w', encoding='utf-8') as file:</a:t>
            </a:r>
          </a:p>
          <a:p>
            <a:r>
              <a:rPr lang="ko-KR" altLang="en-US" sz="800"/>
              <a:t>                    file.write(html_content)</a:t>
            </a:r>
          </a:p>
          <a:p>
            <a:endParaRPr lang="ko-KR" altLang="en-US" sz="800"/>
          </a:p>
          <a:p>
            <a:r>
              <a:rPr lang="ko-KR" altLang="en-US" sz="800"/>
              <a:t>                logger.info(f"✅ 성공! 최종 HTML 파일이 생성되었습니다.")</a:t>
            </a:r>
          </a:p>
          <a:p>
            <a:r>
              <a:rPr lang="ko-KR" altLang="en-US" sz="800"/>
              <a:t>                </a:t>
            </a:r>
          </a:p>
          <a:p>
            <a:r>
              <a:rPr lang="ko-KR" altLang="en-US" sz="800"/>
              <a:t>                to = config_loader.get_items(plant_name, 'to')</a:t>
            </a:r>
          </a:p>
          <a:p>
            <a:r>
              <a:rPr lang="ko-KR" altLang="en-US" sz="800"/>
              <a:t>                send_html_email_from_file(dashboard_path, plant_name, now, to)</a:t>
            </a:r>
          </a:p>
          <a:p>
            <a:endParaRPr lang="ko-KR" altLang="en-US" sz="800"/>
          </a:p>
          <a:p>
            <a:r>
              <a:rPr lang="ko-KR" altLang="en-US" sz="800"/>
              <a:t>            except Exception as e:</a:t>
            </a:r>
          </a:p>
          <a:p>
            <a:r>
              <a:rPr lang="ko-KR" altLang="en-US" sz="800"/>
              <a:t>                logger.info(f"❌ HTML 생성 실패: {e}")</a:t>
            </a:r>
          </a:p>
          <a:p>
            <a:r>
              <a:rPr lang="ko-KR" altLang="en-US" sz="800"/>
              <a:t>        </a:t>
            </a:r>
          </a:p>
          <a:p>
            <a:r>
              <a:rPr lang="ko-KR" altLang="en-US" sz="800"/>
              <a:t>        logger.info('=='*60)        </a:t>
            </a:r>
          </a:p>
          <a:p>
            <a:r>
              <a:rPr lang="ko-KR" altLang="en-US" sz="800"/>
              <a:t>        break</a:t>
            </a:r>
          </a:p>
        </p:txBody>
      </p:sp>
      <p:pic>
        <p:nvPicPr>
          <p:cNvPr id="117" name="그림 116">
            <a:extLst>
              <a:ext uri="{FF2B5EF4-FFF2-40B4-BE49-F238E27FC236}">
                <a16:creationId xmlns:a16="http://schemas.microsoft.com/office/drawing/2014/main" id="{9F10B0F6-C7CB-6069-40C5-7F9A9C1D7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37" y="575342"/>
            <a:ext cx="8312727" cy="3141690"/>
          </a:xfrm>
          <a:prstGeom prst="rect">
            <a:avLst/>
          </a:prstGeom>
        </p:spPr>
      </p:pic>
      <p:pic>
        <p:nvPicPr>
          <p:cNvPr id="198" name="그림 197">
            <a:extLst>
              <a:ext uri="{FF2B5EF4-FFF2-40B4-BE49-F238E27FC236}">
                <a16:creationId xmlns:a16="http://schemas.microsoft.com/office/drawing/2014/main" id="{70AB93BD-2A92-5F7D-A29E-636BB7461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37" y="4005064"/>
            <a:ext cx="7386373" cy="274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3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2BC4D-9BB1-BE33-C863-A0E202BB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E60432A-F7A8-41A1-3D53-07BB7EF53455}"/>
              </a:ext>
            </a:extLst>
          </p:cNvPr>
          <p:cNvSpPr/>
          <p:nvPr/>
        </p:nvSpPr>
        <p:spPr>
          <a:xfrm>
            <a:off x="0" y="0"/>
            <a:ext cx="1619672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③ </a:t>
            </a:r>
            <a:r>
              <a:rPr lang="en-US" altLang="ko-KR" sz="1400" b="1"/>
              <a:t>FFT </a:t>
            </a:r>
            <a:r>
              <a:rPr lang="ko-KR" altLang="en-US" sz="1400" b="1"/>
              <a:t>분석 모델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F47A8-5B63-18B0-E56D-3B84F03BAF7C}"/>
              </a:ext>
            </a:extLst>
          </p:cNvPr>
          <p:cNvSpPr txBox="1"/>
          <p:nvPr/>
        </p:nvSpPr>
        <p:spPr>
          <a:xfrm>
            <a:off x="395536" y="810859"/>
            <a:ext cx="1314341" cy="297927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600" b="1">
                <a:solidFill>
                  <a:schemeClr val="bg1"/>
                </a:solidFill>
              </a:rPr>
              <a:t>측정위치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B81AF2A-E692-6291-899E-143380D28A88}"/>
              </a:ext>
            </a:extLst>
          </p:cNvPr>
          <p:cNvCxnSpPr>
            <a:cxnSpLocks/>
          </p:cNvCxnSpPr>
          <p:nvPr/>
        </p:nvCxnSpPr>
        <p:spPr>
          <a:xfrm>
            <a:off x="213656" y="1263835"/>
            <a:ext cx="871668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D21C92-6605-A955-A638-707D0877693C}"/>
              </a:ext>
            </a:extLst>
          </p:cNvPr>
          <p:cNvSpPr txBox="1"/>
          <p:nvPr/>
        </p:nvSpPr>
        <p:spPr>
          <a:xfrm>
            <a:off x="7458481" y="810859"/>
            <a:ext cx="1314341" cy="297927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600" b="1">
                <a:solidFill>
                  <a:schemeClr val="bg1"/>
                </a:solidFill>
              </a:rPr>
              <a:t>진단방법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0306E6-1A8A-05C8-176C-B11E1EE39E77}"/>
              </a:ext>
            </a:extLst>
          </p:cNvPr>
          <p:cNvSpPr/>
          <p:nvPr/>
        </p:nvSpPr>
        <p:spPr>
          <a:xfrm>
            <a:off x="458706" y="1903610"/>
            <a:ext cx="1188000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Brg’ Block</a:t>
            </a:r>
            <a:endParaRPr lang="ko-KR" altLang="en-US" sz="1400">
              <a:solidFill>
                <a:sysClr val="windowText" lastClr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23E4941-7DCD-ACD6-6026-2C81E69BBF0B}"/>
              </a:ext>
            </a:extLst>
          </p:cNvPr>
          <p:cNvSpPr/>
          <p:nvPr/>
        </p:nvSpPr>
        <p:spPr>
          <a:xfrm>
            <a:off x="458706" y="4077072"/>
            <a:ext cx="1188000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Gear-Box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CDF94-343E-171B-DD4A-92331F2F9334}"/>
              </a:ext>
            </a:extLst>
          </p:cNvPr>
          <p:cNvSpPr txBox="1"/>
          <p:nvPr/>
        </p:nvSpPr>
        <p:spPr>
          <a:xfrm>
            <a:off x="2749851" y="810859"/>
            <a:ext cx="1314341" cy="297927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600" b="1">
                <a:solidFill>
                  <a:schemeClr val="bg1"/>
                </a:solidFill>
              </a:rPr>
              <a:t>진단대상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684209-6AAD-867B-D697-E086EF20325E}"/>
              </a:ext>
            </a:extLst>
          </p:cNvPr>
          <p:cNvSpPr/>
          <p:nvPr/>
        </p:nvSpPr>
        <p:spPr>
          <a:xfrm>
            <a:off x="2898939" y="1903610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solidFill>
                  <a:sysClr val="windowText" lastClr="000000"/>
                </a:solidFill>
              </a:rPr>
              <a:t>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14B8B00-70E6-C715-642E-C68036790F6F}"/>
              </a:ext>
            </a:extLst>
          </p:cNvPr>
          <p:cNvSpPr/>
          <p:nvPr/>
        </p:nvSpPr>
        <p:spPr>
          <a:xfrm>
            <a:off x="2898939" y="4077072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Gear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73208B3-2AE2-91B4-E97E-8ABE4A6FC438}"/>
              </a:ext>
            </a:extLst>
          </p:cNvPr>
          <p:cNvSpPr/>
          <p:nvPr/>
        </p:nvSpPr>
        <p:spPr>
          <a:xfrm>
            <a:off x="2898939" y="3068960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Bearing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66BFEF1-46F8-7044-6CA0-3F27716F1487}"/>
              </a:ext>
            </a:extLst>
          </p:cNvPr>
          <p:cNvSpPr/>
          <p:nvPr/>
        </p:nvSpPr>
        <p:spPr>
          <a:xfrm>
            <a:off x="7607569" y="3068960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GMF</a:t>
            </a:r>
          </a:p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(=Fr x N)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888A5DB-864B-A9B4-643D-8D434B38546F}"/>
              </a:ext>
            </a:extLst>
          </p:cNvPr>
          <p:cNvSpPr/>
          <p:nvPr/>
        </p:nvSpPr>
        <p:spPr>
          <a:xfrm>
            <a:off x="7607569" y="4077072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BPFO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68B22AC-CAD1-7BD8-9870-5D86C52F61E8}"/>
              </a:ext>
            </a:extLst>
          </p:cNvPr>
          <p:cNvSpPr/>
          <p:nvPr/>
        </p:nvSpPr>
        <p:spPr>
          <a:xfrm>
            <a:off x="7607569" y="4700943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BPFI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0B5B80-EF7C-CF4E-ECBE-201EAA8A9A8D}"/>
              </a:ext>
            </a:extLst>
          </p:cNvPr>
          <p:cNvSpPr/>
          <p:nvPr/>
        </p:nvSpPr>
        <p:spPr>
          <a:xfrm>
            <a:off x="7607569" y="5948684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FSF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BC6B9B3-DBBF-0B2A-5718-9A18E5F6433C}"/>
              </a:ext>
            </a:extLst>
          </p:cNvPr>
          <p:cNvSpPr/>
          <p:nvPr/>
        </p:nvSpPr>
        <p:spPr>
          <a:xfrm>
            <a:off x="7607569" y="5324814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BSF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E0258CC-D804-378A-0D10-3A016118A24C}"/>
              </a:ext>
            </a:extLst>
          </p:cNvPr>
          <p:cNvSpPr/>
          <p:nvPr/>
        </p:nvSpPr>
        <p:spPr>
          <a:xfrm>
            <a:off x="7607569" y="1903610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Fr </a:t>
            </a:r>
            <a:r>
              <a:rPr lang="ko-KR" altLang="en-US" sz="1400" b="1">
                <a:solidFill>
                  <a:sysClr val="windowText" lastClr="000000"/>
                </a:solidFill>
              </a:rPr>
              <a:t>하모닉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24F4838-A87E-3A61-88DB-4786BF1E010B}"/>
              </a:ext>
            </a:extLst>
          </p:cNvPr>
          <p:cNvGrpSpPr/>
          <p:nvPr/>
        </p:nvGrpSpPr>
        <p:grpSpPr>
          <a:xfrm>
            <a:off x="458706" y="2835221"/>
            <a:ext cx="1188000" cy="846278"/>
            <a:chOff x="544623" y="2835221"/>
            <a:chExt cx="1188000" cy="84627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89EE535-6CD8-4C08-8CCF-C40A2B0184DE}"/>
                </a:ext>
              </a:extLst>
            </p:cNvPr>
            <p:cNvSpPr/>
            <p:nvPr/>
          </p:nvSpPr>
          <p:spPr>
            <a:xfrm>
              <a:off x="544623" y="2835221"/>
              <a:ext cx="684000" cy="846278"/>
            </a:xfrm>
            <a:prstGeom prst="roundRect">
              <a:avLst>
                <a:gd name="adj" fmla="val 831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>
                  <a:solidFill>
                    <a:sysClr val="windowText" lastClr="000000"/>
                  </a:solidFill>
                </a:rPr>
                <a:t>Motor</a:t>
              </a:r>
              <a:endParaRPr lang="ko-KR" altLang="en-US" sz="14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D7A6DE72-23F9-62B7-3EB9-6AF66F0E14D7}"/>
                </a:ext>
              </a:extLst>
            </p:cNvPr>
            <p:cNvSpPr/>
            <p:nvPr/>
          </p:nvSpPr>
          <p:spPr>
            <a:xfrm>
              <a:off x="1336623" y="2835222"/>
              <a:ext cx="396000" cy="33453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>
                  <a:solidFill>
                    <a:sysClr val="windowText" lastClr="000000"/>
                  </a:solidFill>
                </a:rPr>
                <a:t>DE</a:t>
              </a:r>
              <a:endParaRPr lang="ko-KR" altLang="en-US" sz="1400" b="1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D9F3E724-38D1-5AED-E961-E411C9C3FA82}"/>
                </a:ext>
              </a:extLst>
            </p:cNvPr>
            <p:cNvSpPr/>
            <p:nvPr/>
          </p:nvSpPr>
          <p:spPr>
            <a:xfrm>
              <a:off x="1336623" y="3346961"/>
              <a:ext cx="396000" cy="33453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>
                  <a:solidFill>
                    <a:sysClr val="windowText" lastClr="000000"/>
                  </a:solidFill>
                </a:rPr>
                <a:t>NE</a:t>
              </a:r>
              <a:endParaRPr lang="ko-KR" altLang="en-US" sz="1400" b="1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5EE00AC-B48B-8C6E-134E-263A154C0500}"/>
              </a:ext>
            </a:extLst>
          </p:cNvPr>
          <p:cNvCxnSpPr>
            <a:cxnSpLocks/>
            <a:stCxn id="20" idx="3"/>
            <a:endCxn id="78" idx="1"/>
          </p:cNvCxnSpPr>
          <p:nvPr/>
        </p:nvCxnSpPr>
        <p:spPr>
          <a:xfrm flipV="1">
            <a:off x="3915104" y="3291595"/>
            <a:ext cx="1338150" cy="100811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C241C60-3E82-27CD-7DE5-B25E505A614B}"/>
              </a:ext>
            </a:extLst>
          </p:cNvPr>
          <p:cNvCxnSpPr>
            <a:cxnSpLocks/>
            <a:stCxn id="21" idx="3"/>
            <a:endCxn id="78" idx="1"/>
          </p:cNvCxnSpPr>
          <p:nvPr/>
        </p:nvCxnSpPr>
        <p:spPr>
          <a:xfrm>
            <a:off x="3915104" y="3291595"/>
            <a:ext cx="1338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39AAD182-29D7-1CCB-E0CC-CE8916D8ED63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1646706" y="2126245"/>
            <a:ext cx="1252233" cy="0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02DE56FC-709E-7FA1-3037-34EF63403D19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1646706" y="2126245"/>
            <a:ext cx="1252233" cy="1165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2F5F11F-993A-660C-F498-5FB60F821F36}"/>
              </a:ext>
            </a:extLst>
          </p:cNvPr>
          <p:cNvCxnSpPr>
            <a:cxnSpLocks/>
            <a:stCxn id="35" idx="3"/>
            <a:endCxn id="19" idx="1"/>
          </p:cNvCxnSpPr>
          <p:nvPr/>
        </p:nvCxnSpPr>
        <p:spPr>
          <a:xfrm flipV="1">
            <a:off x="1646706" y="2126245"/>
            <a:ext cx="1252233" cy="876246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B0F1B9F9-2B9C-F76C-3FBE-1BE7D95B31AB}"/>
              </a:ext>
            </a:extLst>
          </p:cNvPr>
          <p:cNvCxnSpPr>
            <a:cxnSpLocks/>
            <a:stCxn id="35" idx="3"/>
            <a:endCxn id="21" idx="1"/>
          </p:cNvCxnSpPr>
          <p:nvPr/>
        </p:nvCxnSpPr>
        <p:spPr>
          <a:xfrm>
            <a:off x="1646706" y="3002491"/>
            <a:ext cx="1252233" cy="289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010E98E-5F46-39EC-8B46-E926A654DED7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1733153" y="3291595"/>
            <a:ext cx="1165786" cy="2151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48498DE-1F6A-F3AF-0606-5C9E9AB71CD0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1646706" y="4299707"/>
            <a:ext cx="1252233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1E0C130-0C38-7A31-5608-CDFDA89945DC}"/>
              </a:ext>
            </a:extLst>
          </p:cNvPr>
          <p:cNvSpPr txBox="1"/>
          <p:nvPr/>
        </p:nvSpPr>
        <p:spPr>
          <a:xfrm>
            <a:off x="5104166" y="810859"/>
            <a:ext cx="1314341" cy="297927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600" b="1">
                <a:solidFill>
                  <a:schemeClr val="bg1"/>
                </a:solidFill>
              </a:rPr>
              <a:t>파라미터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286AC3C4-9C1E-B894-D4F6-30B7DC744D66}"/>
              </a:ext>
            </a:extLst>
          </p:cNvPr>
          <p:cNvSpPr/>
          <p:nvPr/>
        </p:nvSpPr>
        <p:spPr>
          <a:xfrm>
            <a:off x="5253254" y="1903610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solidFill>
                  <a:sysClr val="windowText" lastClr="000000"/>
                </a:solidFill>
              </a:rPr>
              <a:t>속도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95DA7D6-0411-BD67-4DDC-18445F1B76FB}"/>
              </a:ext>
            </a:extLst>
          </p:cNvPr>
          <p:cNvSpPr/>
          <p:nvPr/>
        </p:nvSpPr>
        <p:spPr>
          <a:xfrm>
            <a:off x="5253254" y="3068960"/>
            <a:ext cx="1016165" cy="4452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solidFill>
                  <a:sysClr val="windowText" lastClr="000000"/>
                </a:solidFill>
              </a:rPr>
              <a:t>가속도</a:t>
            </a:r>
            <a:endParaRPr lang="en-US" altLang="ko-KR" sz="1400" b="1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b="1">
                <a:solidFill>
                  <a:sysClr val="windowText" lastClr="000000"/>
                </a:solidFill>
              </a:rPr>
              <a:t>ENV</a:t>
            </a:r>
            <a:endParaRPr lang="ko-KR" altLang="en-US" sz="1400" b="1">
              <a:solidFill>
                <a:sysClr val="windowText" lastClr="000000"/>
              </a:solidFill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79EB8ED-005A-7E5F-22CB-B889B78F1787}"/>
              </a:ext>
            </a:extLst>
          </p:cNvPr>
          <p:cNvCxnSpPr>
            <a:cxnSpLocks/>
            <a:stCxn id="19" idx="3"/>
            <a:endCxn id="77" idx="1"/>
          </p:cNvCxnSpPr>
          <p:nvPr/>
        </p:nvCxnSpPr>
        <p:spPr>
          <a:xfrm>
            <a:off x="3915104" y="2126245"/>
            <a:ext cx="1338150" cy="0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10D02CB4-FEC5-26CD-96B2-E2DBB2FB8284}"/>
              </a:ext>
            </a:extLst>
          </p:cNvPr>
          <p:cNvCxnSpPr>
            <a:cxnSpLocks/>
            <a:stCxn id="20" idx="3"/>
            <a:endCxn id="77" idx="1"/>
          </p:cNvCxnSpPr>
          <p:nvPr/>
        </p:nvCxnSpPr>
        <p:spPr>
          <a:xfrm flipV="1">
            <a:off x="3915104" y="2126245"/>
            <a:ext cx="1338150" cy="2173462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5D3FF3A3-DC4C-DEE6-E6FF-BC7241F7EE9C}"/>
              </a:ext>
            </a:extLst>
          </p:cNvPr>
          <p:cNvCxnSpPr>
            <a:cxnSpLocks/>
            <a:stCxn id="77" idx="3"/>
            <a:endCxn id="27" idx="1"/>
          </p:cNvCxnSpPr>
          <p:nvPr/>
        </p:nvCxnSpPr>
        <p:spPr>
          <a:xfrm>
            <a:off x="6269419" y="2126245"/>
            <a:ext cx="1338150" cy="0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0E818BA-1C63-DAEA-F997-FA60A26B5A37}"/>
              </a:ext>
            </a:extLst>
          </p:cNvPr>
          <p:cNvCxnSpPr>
            <a:cxnSpLocks/>
            <a:stCxn id="78" idx="3"/>
            <a:endCxn id="22" idx="1"/>
          </p:cNvCxnSpPr>
          <p:nvPr/>
        </p:nvCxnSpPr>
        <p:spPr>
          <a:xfrm>
            <a:off x="6269419" y="3291595"/>
            <a:ext cx="133815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537950B3-EB14-D053-DA7D-D0B6C5208768}"/>
              </a:ext>
            </a:extLst>
          </p:cNvPr>
          <p:cNvCxnSpPr>
            <a:cxnSpLocks/>
            <a:stCxn id="78" idx="3"/>
            <a:endCxn id="23" idx="1"/>
          </p:cNvCxnSpPr>
          <p:nvPr/>
        </p:nvCxnSpPr>
        <p:spPr>
          <a:xfrm>
            <a:off x="6269419" y="3291595"/>
            <a:ext cx="1338150" cy="10081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0F401A9B-0FBC-0B9C-BD6F-A0C61EBAF589}"/>
              </a:ext>
            </a:extLst>
          </p:cNvPr>
          <p:cNvCxnSpPr>
            <a:cxnSpLocks/>
            <a:stCxn id="78" idx="3"/>
            <a:endCxn id="24" idx="1"/>
          </p:cNvCxnSpPr>
          <p:nvPr/>
        </p:nvCxnSpPr>
        <p:spPr>
          <a:xfrm>
            <a:off x="6269419" y="3291595"/>
            <a:ext cx="1338150" cy="16319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0C08038C-C0B3-DDEE-E69B-A66F7489FA2A}"/>
              </a:ext>
            </a:extLst>
          </p:cNvPr>
          <p:cNvCxnSpPr>
            <a:cxnSpLocks/>
            <a:stCxn id="78" idx="3"/>
            <a:endCxn id="26" idx="1"/>
          </p:cNvCxnSpPr>
          <p:nvPr/>
        </p:nvCxnSpPr>
        <p:spPr>
          <a:xfrm>
            <a:off x="6269419" y="3291595"/>
            <a:ext cx="1338150" cy="22558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32DC756C-C213-6E1E-C60B-664613E4C909}"/>
              </a:ext>
            </a:extLst>
          </p:cNvPr>
          <p:cNvCxnSpPr>
            <a:cxnSpLocks/>
            <a:stCxn id="78" idx="3"/>
            <a:endCxn id="25" idx="1"/>
          </p:cNvCxnSpPr>
          <p:nvPr/>
        </p:nvCxnSpPr>
        <p:spPr>
          <a:xfrm>
            <a:off x="6269419" y="3291595"/>
            <a:ext cx="1338150" cy="28797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D1418C6-0B09-5071-5EBE-23BFD5C269B0}"/>
              </a:ext>
            </a:extLst>
          </p:cNvPr>
          <p:cNvSpPr txBox="1"/>
          <p:nvPr/>
        </p:nvSpPr>
        <p:spPr>
          <a:xfrm>
            <a:off x="7554634" y="6421794"/>
            <a:ext cx="12562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>
                <a:solidFill>
                  <a:srgbClr val="0000FF"/>
                </a:solidFill>
              </a:rPr>
              <a:t>*pybearing </a:t>
            </a:r>
            <a:r>
              <a:rPr lang="ko-KR" altLang="en-US" sz="1050">
                <a:solidFill>
                  <a:srgbClr val="0000FF"/>
                </a:solidFill>
              </a:rPr>
              <a:t>활용</a:t>
            </a:r>
          </a:p>
        </p:txBody>
      </p:sp>
    </p:spTree>
    <p:extLst>
      <p:ext uri="{BB962C8B-B14F-4D97-AF65-F5344CB8AC3E}">
        <p14:creationId xmlns:p14="http://schemas.microsoft.com/office/powerpoint/2010/main" val="210131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3D76-32C3-912F-1977-6DB64200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960FA39-5B95-6F1A-E693-B44B18C284A2}"/>
              </a:ext>
            </a:extLst>
          </p:cNvPr>
          <p:cNvSpPr/>
          <p:nvPr/>
        </p:nvSpPr>
        <p:spPr>
          <a:xfrm>
            <a:off x="0" y="0"/>
            <a:ext cx="2843808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③ </a:t>
            </a:r>
            <a:r>
              <a:rPr lang="en-US" altLang="ko-KR" sz="1400" b="1"/>
              <a:t>FFT </a:t>
            </a:r>
            <a:r>
              <a:rPr lang="ko-KR" altLang="en-US" sz="1400" b="1"/>
              <a:t>분석 모델 </a:t>
            </a:r>
            <a:r>
              <a:rPr lang="en-US" altLang="ko-KR" sz="1400" b="1"/>
              <a:t>– </a:t>
            </a:r>
            <a:r>
              <a:rPr lang="ko-KR" altLang="en-US" sz="1400" b="1"/>
              <a:t>축 결함 진단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19005C-992F-19EB-CD98-5DE543123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" y="717263"/>
            <a:ext cx="7557025" cy="7638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8EDE9B-E2CA-D69A-F1A4-BC091ACCB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88" y="1700808"/>
            <a:ext cx="7557025" cy="4897175"/>
          </a:xfrm>
          <a:prstGeom prst="rect">
            <a:avLst/>
          </a:prstGeom>
        </p:spPr>
      </p:pic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B3D42471-8201-B6F9-04EC-7942A2867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996953"/>
              </p:ext>
            </p:extLst>
          </p:nvPr>
        </p:nvGraphicFramePr>
        <p:xfrm>
          <a:off x="7956376" y="116632"/>
          <a:ext cx="1123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4" imgW="1123874" imgH="514248" progId="Package">
                  <p:embed/>
                </p:oleObj>
              </mc:Choice>
              <mc:Fallback>
                <p:oleObj name="포장기 셸 개체" showAsIcon="1" r:id="rId4" imgW="1123874" imgH="514248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56376" y="116632"/>
                        <a:ext cx="11239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A723F596-C9DE-51C0-827D-95CF36E88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175772"/>
              </p:ext>
            </p:extLst>
          </p:nvPr>
        </p:nvGraphicFramePr>
        <p:xfrm>
          <a:off x="7051501" y="116632"/>
          <a:ext cx="904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6" imgW="904751" imgH="514248" progId="Package">
                  <p:embed/>
                </p:oleObj>
              </mc:Choice>
              <mc:Fallback>
                <p:oleObj name="포장기 셸 개체" showAsIcon="1" r:id="rId6" imgW="904751" imgH="514248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51501" y="116632"/>
                        <a:ext cx="9048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105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8EF1-75ED-DA76-3968-87B0DFCB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54A1623-C0F4-08D7-7AFB-C91DCD11C3CB}"/>
              </a:ext>
            </a:extLst>
          </p:cNvPr>
          <p:cNvSpPr/>
          <p:nvPr/>
        </p:nvSpPr>
        <p:spPr>
          <a:xfrm>
            <a:off x="0" y="0"/>
            <a:ext cx="2843808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③ </a:t>
            </a:r>
            <a:r>
              <a:rPr lang="en-US" altLang="ko-KR" sz="1400" b="1"/>
              <a:t>FFT </a:t>
            </a:r>
            <a:r>
              <a:rPr lang="ko-KR" altLang="en-US" sz="1400" b="1"/>
              <a:t>분석 모델 </a:t>
            </a:r>
            <a:r>
              <a:rPr lang="en-US" altLang="ko-KR" sz="1400" b="1"/>
              <a:t>– </a:t>
            </a:r>
            <a:r>
              <a:rPr lang="ko-KR" altLang="en-US" sz="1400" b="1"/>
              <a:t>축 결함 진단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643165C-A00C-0C9E-B79F-AE4C404BC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87" y="857576"/>
            <a:ext cx="6773227" cy="566776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3E59753-6830-0AD2-3D18-6A5D5E305335}"/>
              </a:ext>
            </a:extLst>
          </p:cNvPr>
          <p:cNvSpPr/>
          <p:nvPr/>
        </p:nvSpPr>
        <p:spPr>
          <a:xfrm>
            <a:off x="1259632" y="6381328"/>
            <a:ext cx="2088232" cy="14401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72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5B88-2078-819E-E647-3742C36D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B6F872F-8230-7E9D-83E5-959A77C817C8}"/>
              </a:ext>
            </a:extLst>
          </p:cNvPr>
          <p:cNvSpPr/>
          <p:nvPr/>
        </p:nvSpPr>
        <p:spPr>
          <a:xfrm>
            <a:off x="0" y="0"/>
            <a:ext cx="3275856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③ </a:t>
            </a:r>
            <a:r>
              <a:rPr lang="en-US" altLang="ko-KR" sz="1400" b="1"/>
              <a:t>FFT </a:t>
            </a:r>
            <a:r>
              <a:rPr lang="ko-KR" altLang="en-US" sz="1400" b="1"/>
              <a:t>분석 모델 </a:t>
            </a:r>
            <a:r>
              <a:rPr lang="en-US" altLang="ko-KR" sz="1400" b="1"/>
              <a:t>– </a:t>
            </a:r>
            <a:r>
              <a:rPr lang="ko-KR" altLang="en-US" sz="1400" b="1"/>
              <a:t>베어링 결함 진단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56348D-2B6E-65C5-0CF1-91D19E9C2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" y="830517"/>
            <a:ext cx="7557025" cy="7384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AC1A7A0-2CDB-1AED-2F5C-3D54CC48F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88" y="1994819"/>
            <a:ext cx="7557025" cy="372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6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3A0A-24D9-9DCC-AA64-5120300B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D81D4E9-5F08-7A0B-9622-9E2189925CA5}"/>
              </a:ext>
            </a:extLst>
          </p:cNvPr>
          <p:cNvSpPr/>
          <p:nvPr/>
        </p:nvSpPr>
        <p:spPr>
          <a:xfrm>
            <a:off x="0" y="0"/>
            <a:ext cx="3275856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③ </a:t>
            </a:r>
            <a:r>
              <a:rPr lang="en-US" altLang="ko-KR" sz="1400" b="1"/>
              <a:t>FFT </a:t>
            </a:r>
            <a:r>
              <a:rPr lang="ko-KR" altLang="en-US" sz="1400" b="1"/>
              <a:t>분석 모델 </a:t>
            </a:r>
            <a:r>
              <a:rPr lang="en-US" altLang="ko-KR" sz="1400" b="1"/>
              <a:t>– </a:t>
            </a:r>
            <a:r>
              <a:rPr lang="ko-KR" altLang="en-US" sz="1400" b="1"/>
              <a:t>베어링 결함 진단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98BC83-6810-1DC3-00A4-41C46E34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" y="730103"/>
            <a:ext cx="7557025" cy="32850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68878C5-7CD7-B6B4-F84F-9E7857EE7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88" y="4262580"/>
            <a:ext cx="7557025" cy="258383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4697CED-66F4-A7ED-503C-E1F56A843563}"/>
              </a:ext>
            </a:extLst>
          </p:cNvPr>
          <p:cNvSpPr/>
          <p:nvPr/>
        </p:nvSpPr>
        <p:spPr>
          <a:xfrm>
            <a:off x="5508104" y="2433588"/>
            <a:ext cx="2232248" cy="21602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30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C94D-8022-CB67-E7C0-22748CC8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0B9932-023B-F07D-1FF9-89BFBEED7732}"/>
              </a:ext>
            </a:extLst>
          </p:cNvPr>
          <p:cNvSpPr/>
          <p:nvPr/>
        </p:nvSpPr>
        <p:spPr>
          <a:xfrm>
            <a:off x="0" y="0"/>
            <a:ext cx="3275856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③ </a:t>
            </a:r>
            <a:r>
              <a:rPr lang="en-US" altLang="ko-KR" sz="1400" b="1"/>
              <a:t>FFT </a:t>
            </a:r>
            <a:r>
              <a:rPr lang="ko-KR" altLang="en-US" sz="1400" b="1"/>
              <a:t>분석 모델 </a:t>
            </a:r>
            <a:r>
              <a:rPr lang="en-US" altLang="ko-KR" sz="1400" b="1"/>
              <a:t>– </a:t>
            </a:r>
            <a:r>
              <a:rPr lang="ko-KR" altLang="en-US" sz="1400" b="1"/>
              <a:t>베어링 결함 진단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388DB6-5EBF-05B9-8EC5-221B814AA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" y="800407"/>
            <a:ext cx="7557025" cy="7563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11BB59-6ED2-9DE8-3FC4-447C22994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795"/>
          <a:stretch/>
        </p:blipFill>
        <p:spPr>
          <a:xfrm>
            <a:off x="872395" y="1916832"/>
            <a:ext cx="7399211" cy="19953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0FDD842-02D4-CFAE-8EB5-5E8127594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346" b="128"/>
          <a:stretch/>
        </p:blipFill>
        <p:spPr>
          <a:xfrm>
            <a:off x="872395" y="4221088"/>
            <a:ext cx="7399211" cy="195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2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51AF-658A-2AD7-1854-34B3DE9F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C0E7FF0-BEE4-F955-2380-6C00DADC1D06}"/>
              </a:ext>
            </a:extLst>
          </p:cNvPr>
          <p:cNvSpPr/>
          <p:nvPr/>
        </p:nvSpPr>
        <p:spPr>
          <a:xfrm>
            <a:off x="0" y="0"/>
            <a:ext cx="3275856" cy="404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③ </a:t>
            </a:r>
            <a:r>
              <a:rPr lang="en-US" altLang="ko-KR" sz="1400" b="1"/>
              <a:t>FFT </a:t>
            </a:r>
            <a:r>
              <a:rPr lang="ko-KR" altLang="en-US" sz="1400" b="1"/>
              <a:t>분석 모델 </a:t>
            </a:r>
            <a:r>
              <a:rPr lang="en-US" altLang="ko-KR" sz="1400" b="1"/>
              <a:t>– </a:t>
            </a:r>
            <a:r>
              <a:rPr lang="ko-KR" altLang="en-US" sz="1400" b="1"/>
              <a:t>베어링 결함 진단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D4731A-2D90-8189-BAB9-D05A9369B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88" y="561695"/>
            <a:ext cx="7557025" cy="32993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E4D8B3-8BC1-5D58-685A-C82E59F0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88" y="4020219"/>
            <a:ext cx="7557025" cy="264914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FE9E863-8B64-D354-77B5-A94D658DECEA}"/>
              </a:ext>
            </a:extLst>
          </p:cNvPr>
          <p:cNvSpPr/>
          <p:nvPr/>
        </p:nvSpPr>
        <p:spPr>
          <a:xfrm>
            <a:off x="5436096" y="2276872"/>
            <a:ext cx="2232248" cy="21602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59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AF6F-EC24-2E1F-70E0-713E21E4A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8BAEC14-9F79-A3D2-5F71-E350AE0B30C2}"/>
              </a:ext>
            </a:extLst>
          </p:cNvPr>
          <p:cNvSpPr/>
          <p:nvPr/>
        </p:nvSpPr>
        <p:spPr>
          <a:xfrm>
            <a:off x="7220605" y="1124744"/>
            <a:ext cx="1801137" cy="49685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7C9ED1-9DC1-0466-23B6-A3A51A79BBEA}"/>
              </a:ext>
            </a:extLst>
          </p:cNvPr>
          <p:cNvSpPr txBox="1"/>
          <p:nvPr/>
        </p:nvSpPr>
        <p:spPr>
          <a:xfrm>
            <a:off x="0" y="-6350"/>
            <a:ext cx="2123728" cy="24622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DashBoard </a:t>
            </a:r>
            <a:r>
              <a:rPr lang="ko-KR" altLang="en-US" sz="1600" b="1">
                <a:solidFill>
                  <a:schemeClr val="bg1"/>
                </a:solidFill>
              </a:rPr>
              <a:t>양식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5229F0-FF99-FE31-3399-2E71ECD04188}"/>
              </a:ext>
            </a:extLst>
          </p:cNvPr>
          <p:cNvSpPr/>
          <p:nvPr/>
        </p:nvSpPr>
        <p:spPr>
          <a:xfrm>
            <a:off x="169552" y="1124744"/>
            <a:ext cx="3053263" cy="49685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BCF205-C1D5-CE15-252A-5BB21F0AA6D7}"/>
              </a:ext>
            </a:extLst>
          </p:cNvPr>
          <p:cNvSpPr/>
          <p:nvPr/>
        </p:nvSpPr>
        <p:spPr>
          <a:xfrm>
            <a:off x="3419872" y="1124744"/>
            <a:ext cx="3732200" cy="496855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2AABD9-DA0C-DB86-72D2-A17209B40E71}"/>
              </a:ext>
            </a:extLst>
          </p:cNvPr>
          <p:cNvSpPr txBox="1"/>
          <p:nvPr/>
        </p:nvSpPr>
        <p:spPr>
          <a:xfrm>
            <a:off x="241560" y="1196752"/>
            <a:ext cx="864096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1</a:t>
            </a:r>
            <a:r>
              <a:rPr lang="ko-KR" altLang="en-US" sz="1600" b="1">
                <a:solidFill>
                  <a:schemeClr val="bg1"/>
                </a:solidFill>
              </a:rPr>
              <a:t>열연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B9ADF79-2620-1EDF-63EB-CF9217EB4BFD}"/>
              </a:ext>
            </a:extLst>
          </p:cNvPr>
          <p:cNvCxnSpPr>
            <a:cxnSpLocks/>
          </p:cNvCxnSpPr>
          <p:nvPr/>
        </p:nvCxnSpPr>
        <p:spPr>
          <a:xfrm flipV="1">
            <a:off x="2944060" y="1124744"/>
            <a:ext cx="475812" cy="7887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88A208F-E7A9-B68C-642E-E8867FFBEA7D}"/>
              </a:ext>
            </a:extLst>
          </p:cNvPr>
          <p:cNvCxnSpPr>
            <a:cxnSpLocks/>
          </p:cNvCxnSpPr>
          <p:nvPr/>
        </p:nvCxnSpPr>
        <p:spPr>
          <a:xfrm>
            <a:off x="2944060" y="2060848"/>
            <a:ext cx="449182" cy="4047662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4727119-0DCF-AD3E-82E7-40E368EDAF86}"/>
              </a:ext>
            </a:extLst>
          </p:cNvPr>
          <p:cNvSpPr txBox="1"/>
          <p:nvPr/>
        </p:nvSpPr>
        <p:spPr>
          <a:xfrm>
            <a:off x="747702" y="372665"/>
            <a:ext cx="46883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050" b="1"/>
              <a:t>클릭 시 우측 </a:t>
            </a:r>
            <a:r>
              <a:rPr lang="en-US" altLang="ko-KR" sz="1050" b="1"/>
              <a:t>page(</a:t>
            </a:r>
            <a:r>
              <a:rPr lang="ko-KR" altLang="en-US" sz="1050" b="1"/>
              <a:t>이상개소 </a:t>
            </a:r>
            <a:r>
              <a:rPr lang="en-US" altLang="ko-KR" sz="1050" b="1"/>
              <a:t>AI</a:t>
            </a:r>
            <a:r>
              <a:rPr lang="ko-KR" altLang="en-US" sz="1050" b="1"/>
              <a:t> 진단</a:t>
            </a:r>
            <a:r>
              <a:rPr lang="en-US" altLang="ko-KR" sz="1050" b="1"/>
              <a:t>) </a:t>
            </a:r>
            <a:r>
              <a:rPr lang="ko-KR" altLang="en-US" sz="1050" b="1"/>
              <a:t>진입</a:t>
            </a:r>
            <a:r>
              <a:rPr lang="en-US" altLang="ko-KR" sz="1050" b="1"/>
              <a:t>, </a:t>
            </a:r>
            <a:r>
              <a:rPr lang="ko-KR" altLang="en-US" sz="1050" b="1"/>
              <a:t>자동 </a:t>
            </a:r>
            <a:r>
              <a:rPr lang="en-US" altLang="ko-KR" sz="1050" b="1"/>
              <a:t>AI</a:t>
            </a:r>
            <a:r>
              <a:rPr lang="ko-KR" altLang="en-US" sz="1050" b="1"/>
              <a:t>진단 결과 확인 가능</a:t>
            </a:r>
            <a:endParaRPr lang="en-US" altLang="ko-KR" sz="1050" b="1"/>
          </a:p>
          <a:p>
            <a:pPr>
              <a:spcAft>
                <a:spcPts val="600"/>
              </a:spcAft>
            </a:pPr>
            <a:r>
              <a:rPr lang="en-US" altLang="ko-KR" sz="1050"/>
              <a:t>※ </a:t>
            </a:r>
            <a:r>
              <a:rPr lang="ko-KR" altLang="en-US" sz="1050"/>
              <a:t>빨간색 </a:t>
            </a:r>
            <a:r>
              <a:rPr lang="en-US" altLang="ko-KR" sz="1050"/>
              <a:t>: </a:t>
            </a:r>
            <a:r>
              <a:rPr lang="ko-KR" altLang="en-US" sz="1050"/>
              <a:t>위험</a:t>
            </a:r>
            <a:r>
              <a:rPr lang="en-US" altLang="ko-KR" sz="1050"/>
              <a:t>, </a:t>
            </a:r>
            <a:r>
              <a:rPr lang="ko-KR" altLang="en-US" sz="1050"/>
              <a:t>노란색 </a:t>
            </a:r>
            <a:r>
              <a:rPr lang="en-US" altLang="ko-KR" sz="1050"/>
              <a:t>: </a:t>
            </a:r>
            <a:r>
              <a:rPr lang="ko-KR" altLang="en-US" sz="1050"/>
              <a:t>주의</a:t>
            </a:r>
            <a:r>
              <a:rPr lang="en-US" altLang="ko-KR" sz="1050"/>
              <a:t>, </a:t>
            </a:r>
            <a:r>
              <a:rPr lang="ko-KR" altLang="en-US" sz="1050"/>
              <a:t>초록색 </a:t>
            </a:r>
            <a:r>
              <a:rPr lang="en-US" altLang="ko-KR" sz="1050"/>
              <a:t>: </a:t>
            </a:r>
            <a:r>
              <a:rPr lang="ko-KR" altLang="en-US" sz="1050"/>
              <a:t>정상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23E178-2C92-B2E7-A489-0EF9F3281E73}"/>
              </a:ext>
            </a:extLst>
          </p:cNvPr>
          <p:cNvCxnSpPr>
            <a:cxnSpLocks/>
          </p:cNvCxnSpPr>
          <p:nvPr/>
        </p:nvCxnSpPr>
        <p:spPr>
          <a:xfrm>
            <a:off x="2411760" y="839135"/>
            <a:ext cx="528173" cy="1074329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FA31DA4-A125-BA69-3EC0-7D320C3E63AD}"/>
              </a:ext>
            </a:extLst>
          </p:cNvPr>
          <p:cNvSpPr txBox="1"/>
          <p:nvPr/>
        </p:nvSpPr>
        <p:spPr>
          <a:xfrm>
            <a:off x="173203" y="6108510"/>
            <a:ext cx="27066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/>
              <a:t>- </a:t>
            </a:r>
            <a:r>
              <a:rPr lang="ko-KR" altLang="en-US" sz="1050" b="1"/>
              <a:t>전체 공장 센서 </a:t>
            </a:r>
            <a:r>
              <a:rPr lang="en-US" altLang="ko-KR" sz="1050" b="1"/>
              <a:t>List </a:t>
            </a:r>
            <a:r>
              <a:rPr lang="ko-KR" altLang="en-US" sz="1050" b="1"/>
              <a:t>및 상태 확인 </a:t>
            </a:r>
            <a:r>
              <a:rPr lang="en-US" altLang="ko-KR" sz="1050" b="1"/>
              <a:t>Page</a:t>
            </a:r>
            <a:endParaRPr lang="ko-KR" altLang="en-US" sz="105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1B02E1-D41D-02E7-712B-A7EB1FB605CE}"/>
              </a:ext>
            </a:extLst>
          </p:cNvPr>
          <p:cNvSpPr txBox="1"/>
          <p:nvPr/>
        </p:nvSpPr>
        <p:spPr>
          <a:xfrm>
            <a:off x="3419872" y="6108510"/>
            <a:ext cx="27066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/>
              <a:t>- </a:t>
            </a:r>
            <a:r>
              <a:rPr lang="ko-KR" altLang="en-US" sz="1050" b="1"/>
              <a:t>이상 개소 </a:t>
            </a:r>
            <a:r>
              <a:rPr lang="en-US" altLang="ko-KR" sz="1050" b="1"/>
              <a:t>AI </a:t>
            </a:r>
            <a:r>
              <a:rPr lang="ko-KR" altLang="en-US" sz="1050" b="1"/>
              <a:t>진단 </a:t>
            </a:r>
            <a:r>
              <a:rPr lang="en-US" altLang="ko-KR" sz="1050" b="1"/>
              <a:t>Page</a:t>
            </a:r>
            <a:r>
              <a:rPr lang="ko-KR" altLang="en-US" sz="1050" b="1"/>
              <a:t> 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AC049E8E-0DDD-4856-38A2-A3F646AF3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319862"/>
            <a:ext cx="3456384" cy="3045242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5CE208BD-8741-3564-9948-31856AFBF16E}"/>
              </a:ext>
            </a:extLst>
          </p:cNvPr>
          <p:cNvSpPr/>
          <p:nvPr/>
        </p:nvSpPr>
        <p:spPr>
          <a:xfrm>
            <a:off x="3563888" y="1319861"/>
            <a:ext cx="3384376" cy="829247"/>
          </a:xfrm>
          <a:prstGeom prst="rect">
            <a:avLst/>
          </a:prstGeom>
          <a:solidFill>
            <a:srgbClr val="8EB4E3">
              <a:alpha val="40000"/>
            </a:srgb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진단결과 및 조치내용 안내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FAABC8F-DF4E-9273-4141-70176F0894D6}"/>
              </a:ext>
            </a:extLst>
          </p:cNvPr>
          <p:cNvSpPr/>
          <p:nvPr/>
        </p:nvSpPr>
        <p:spPr>
          <a:xfrm>
            <a:off x="3563888" y="2427858"/>
            <a:ext cx="1651971" cy="1793230"/>
          </a:xfrm>
          <a:prstGeom prst="rect">
            <a:avLst/>
          </a:prstGeom>
          <a:solidFill>
            <a:srgbClr val="8EB4E3">
              <a:alpha val="40000"/>
            </a:srgb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60">
                <a:solidFill>
                  <a:schemeClr val="tx1"/>
                </a:solidFill>
              </a:rPr>
              <a:t>진동 경향 </a:t>
            </a:r>
            <a:r>
              <a:rPr lang="en-US" altLang="ko-KR" sz="1600" b="1" spc="-60">
                <a:solidFill>
                  <a:schemeClr val="tx1"/>
                </a:solidFill>
              </a:rPr>
              <a:t>Trend Graph </a:t>
            </a:r>
            <a:r>
              <a:rPr lang="ko-KR" altLang="en-US" sz="1600" b="1" spc="-60">
                <a:solidFill>
                  <a:schemeClr val="tx1"/>
                </a:solidFill>
              </a:rPr>
              <a:t>및 분석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5F01994-70C5-3E78-524A-E12BEF7CC8BA}"/>
              </a:ext>
            </a:extLst>
          </p:cNvPr>
          <p:cNvSpPr/>
          <p:nvPr/>
        </p:nvSpPr>
        <p:spPr>
          <a:xfrm>
            <a:off x="5296293" y="2427858"/>
            <a:ext cx="1651971" cy="1793230"/>
          </a:xfrm>
          <a:prstGeom prst="rect">
            <a:avLst/>
          </a:prstGeom>
          <a:solidFill>
            <a:srgbClr val="8EB4E3">
              <a:alpha val="40000"/>
            </a:srgb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spc="-60">
                <a:solidFill>
                  <a:schemeClr val="tx1"/>
                </a:solidFill>
              </a:rPr>
              <a:t>FFT Graph </a:t>
            </a:r>
            <a:r>
              <a:rPr lang="ko-KR" altLang="en-US" sz="1600" b="1" spc="-60">
                <a:solidFill>
                  <a:schemeClr val="tx1"/>
                </a:solidFill>
              </a:rPr>
              <a:t>및 </a:t>
            </a:r>
            <a:endParaRPr lang="en-US" altLang="ko-KR" sz="1600" b="1" spc="-60">
              <a:solidFill>
                <a:schemeClr val="tx1"/>
              </a:solidFill>
            </a:endParaRPr>
          </a:p>
          <a:p>
            <a:pPr algn="ctr"/>
            <a:r>
              <a:rPr lang="ko-KR" altLang="en-US" sz="1600" b="1" spc="-60">
                <a:solidFill>
                  <a:schemeClr val="tx1"/>
                </a:solidFill>
              </a:rPr>
              <a:t>분석</a:t>
            </a:r>
            <a:endParaRPr lang="en-US" altLang="ko-KR" sz="1600" b="1" spc="-60">
              <a:solidFill>
                <a:schemeClr val="tx1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64BC95DE-D2C0-236D-5852-040E2316FD8A}"/>
              </a:ext>
            </a:extLst>
          </p:cNvPr>
          <p:cNvGrpSpPr/>
          <p:nvPr/>
        </p:nvGrpSpPr>
        <p:grpSpPr>
          <a:xfrm>
            <a:off x="7044061" y="3324473"/>
            <a:ext cx="216022" cy="504056"/>
            <a:chOff x="8756890" y="3324473"/>
            <a:chExt cx="216022" cy="504056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CAD2458-7574-9A19-0044-CE2B4A239632}"/>
                </a:ext>
              </a:extLst>
            </p:cNvPr>
            <p:cNvSpPr/>
            <p:nvPr/>
          </p:nvSpPr>
          <p:spPr>
            <a:xfrm>
              <a:off x="8756890" y="3324473"/>
              <a:ext cx="216022" cy="5040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2" name="이등변 삼각형 71">
              <a:extLst>
                <a:ext uri="{FF2B5EF4-FFF2-40B4-BE49-F238E27FC236}">
                  <a16:creationId xmlns:a16="http://schemas.microsoft.com/office/drawing/2014/main" id="{2B277803-515E-E384-9772-C38FCB51119D}"/>
                </a:ext>
              </a:extLst>
            </p:cNvPr>
            <p:cNvSpPr/>
            <p:nvPr/>
          </p:nvSpPr>
          <p:spPr>
            <a:xfrm rot="16200000">
              <a:off x="8785176" y="3524088"/>
              <a:ext cx="156629" cy="110469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D9F1EEA1-C4E9-692D-E5C5-66BE5635F462}"/>
              </a:ext>
            </a:extLst>
          </p:cNvPr>
          <p:cNvCxnSpPr>
            <a:cxnSpLocks/>
          </p:cNvCxnSpPr>
          <p:nvPr/>
        </p:nvCxnSpPr>
        <p:spPr>
          <a:xfrm>
            <a:off x="7028698" y="939076"/>
            <a:ext cx="70074" cy="2214505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E48EABA-DC18-FEB8-24EF-8695A0C083C8}"/>
              </a:ext>
            </a:extLst>
          </p:cNvPr>
          <p:cNvSpPr txBox="1"/>
          <p:nvPr/>
        </p:nvSpPr>
        <p:spPr>
          <a:xfrm>
            <a:off x="5599652" y="644517"/>
            <a:ext cx="34220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050"/>
              <a:t>클릭 시 </a:t>
            </a:r>
            <a:r>
              <a:rPr lang="en-US" altLang="ko-KR" sz="1050"/>
              <a:t>Chatbot </a:t>
            </a:r>
            <a:r>
              <a:rPr lang="ko-KR" altLang="en-US" sz="1050"/>
              <a:t>실행하여 진단 내용 관련 질문 가능</a:t>
            </a:r>
            <a:endParaRPr lang="en-US" altLang="ko-KR" sz="1050"/>
          </a:p>
        </p:txBody>
      </p:sp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72722833-3A13-FA68-EB21-FA3A38DEE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260150"/>
              </p:ext>
            </p:extLst>
          </p:nvPr>
        </p:nvGraphicFramePr>
        <p:xfrm>
          <a:off x="3571112" y="4365104"/>
          <a:ext cx="3384376" cy="1645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68035">
                  <a:extLst>
                    <a:ext uri="{9D8B030D-6E8A-4147-A177-3AD203B41FA5}">
                      <a16:colId xmlns:a16="http://schemas.microsoft.com/office/drawing/2014/main" val="1950083216"/>
                    </a:ext>
                  </a:extLst>
                </a:gridCol>
                <a:gridCol w="910342">
                  <a:extLst>
                    <a:ext uri="{9D8B030D-6E8A-4147-A177-3AD203B41FA5}">
                      <a16:colId xmlns:a16="http://schemas.microsoft.com/office/drawing/2014/main" val="2129531115"/>
                    </a:ext>
                  </a:extLst>
                </a:gridCol>
                <a:gridCol w="905999">
                  <a:extLst>
                    <a:ext uri="{9D8B030D-6E8A-4147-A177-3AD203B41FA5}">
                      <a16:colId xmlns:a16="http://schemas.microsoft.com/office/drawing/2014/main" val="1074164280"/>
                    </a:ext>
                  </a:extLst>
                </a:gridCol>
              </a:tblGrid>
              <a:tr h="2559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설비명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장애유형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과거 이력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948309"/>
                  </a:ext>
                </a:extLst>
              </a:tr>
              <a:tr h="255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Cooling Pump Fan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Unbalance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u="sng"/>
                        <a:t>Link</a:t>
                      </a:r>
                      <a:endParaRPr lang="ko-KR" altLang="en-US" sz="1200" u="sn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33852"/>
                  </a:ext>
                </a:extLst>
              </a:tr>
              <a:tr h="255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Tension Bridle Roll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531349"/>
                  </a:ext>
                </a:extLst>
              </a:tr>
              <a:tr h="255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2424"/>
                  </a:ext>
                </a:extLst>
              </a:tr>
              <a:tr h="255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59298"/>
                  </a:ext>
                </a:extLst>
              </a:tr>
              <a:tr h="255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…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35772"/>
                  </a:ext>
                </a:extLst>
              </a:tr>
            </a:tbl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32CD19DE-94C1-B73D-0E3C-0578A5140A2A}"/>
              </a:ext>
            </a:extLst>
          </p:cNvPr>
          <p:cNvSpPr txBox="1"/>
          <p:nvPr/>
        </p:nvSpPr>
        <p:spPr>
          <a:xfrm>
            <a:off x="5265480" y="6377640"/>
            <a:ext cx="30254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050"/>
              <a:t>클릭 시 과거 진단 결과 확인 가능</a:t>
            </a: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42A5D80C-5C1E-CD3E-BC77-B9DC4950A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15" y="1514981"/>
            <a:ext cx="2814325" cy="4444369"/>
          </a:xfrm>
          <a:prstGeom prst="rect">
            <a:avLst/>
          </a:prstGeom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476A34AC-0F6F-A253-E5D5-7A365F2F8D0E}"/>
              </a:ext>
            </a:extLst>
          </p:cNvPr>
          <p:cNvSpPr/>
          <p:nvPr/>
        </p:nvSpPr>
        <p:spPr>
          <a:xfrm>
            <a:off x="3515804" y="4315719"/>
            <a:ext cx="3494992" cy="1630194"/>
          </a:xfrm>
          <a:prstGeom prst="rect">
            <a:avLst/>
          </a:prstGeom>
          <a:solidFill>
            <a:srgbClr val="8EB4E3">
              <a:alpha val="40000"/>
            </a:srgb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60">
                <a:solidFill>
                  <a:schemeClr val="tx1"/>
                </a:solidFill>
              </a:rPr>
              <a:t>과거 유사 사례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CB3553A9-8830-F5C7-53DF-3BD1B7BFBD8D}"/>
              </a:ext>
            </a:extLst>
          </p:cNvPr>
          <p:cNvCxnSpPr>
            <a:cxnSpLocks/>
          </p:cNvCxnSpPr>
          <p:nvPr/>
        </p:nvCxnSpPr>
        <p:spPr>
          <a:xfrm flipH="1" flipV="1">
            <a:off x="6588224" y="4869160"/>
            <a:ext cx="99136" cy="1502886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358C242B-A1D5-3E3F-6B5C-D09398183072}"/>
              </a:ext>
            </a:extLst>
          </p:cNvPr>
          <p:cNvCxnSpPr>
            <a:cxnSpLocks/>
          </p:cNvCxnSpPr>
          <p:nvPr/>
        </p:nvCxnSpPr>
        <p:spPr>
          <a:xfrm>
            <a:off x="7164288" y="3398639"/>
            <a:ext cx="184841" cy="3036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3142120F-83B0-152C-689D-D3482EC36220}"/>
              </a:ext>
            </a:extLst>
          </p:cNvPr>
          <p:cNvSpPr/>
          <p:nvPr/>
        </p:nvSpPr>
        <p:spPr>
          <a:xfrm>
            <a:off x="7349129" y="1236880"/>
            <a:ext cx="1625319" cy="8239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050" spc="-100">
                <a:solidFill>
                  <a:schemeClr val="tx1"/>
                </a:solidFill>
              </a:rPr>
              <a:t>Bloom Cooling Pump#F</a:t>
            </a:r>
            <a:r>
              <a:rPr lang="ko-KR" altLang="en-US" sz="1050" spc="-100">
                <a:solidFill>
                  <a:schemeClr val="tx1"/>
                </a:solidFill>
              </a:rPr>
              <a:t>와 동일 설비의 진동 </a:t>
            </a:r>
            <a:r>
              <a:rPr lang="en-US" altLang="ko-KR" sz="1050" spc="-100">
                <a:solidFill>
                  <a:schemeClr val="tx1"/>
                </a:solidFill>
              </a:rPr>
              <a:t>Trend</a:t>
            </a:r>
            <a:r>
              <a:rPr lang="ko-KR" altLang="en-US" sz="1050" spc="-100">
                <a:solidFill>
                  <a:schemeClr val="tx1"/>
                </a:solidFill>
              </a:rPr>
              <a:t>를 알려줘</a:t>
            </a:r>
            <a:r>
              <a:rPr lang="en-US" altLang="ko-KR" sz="1050" spc="-100">
                <a:solidFill>
                  <a:schemeClr val="tx1"/>
                </a:solidFill>
              </a:rPr>
              <a:t>!</a:t>
            </a:r>
            <a:r>
              <a:rPr lang="ko-KR" altLang="en-US" sz="1050" spc="-1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FA4E4800-C137-509A-7791-A8E76A4CCA6A}"/>
              </a:ext>
            </a:extLst>
          </p:cNvPr>
          <p:cNvSpPr/>
          <p:nvPr/>
        </p:nvSpPr>
        <p:spPr>
          <a:xfrm>
            <a:off x="7349129" y="2125606"/>
            <a:ext cx="1625319" cy="38337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50" spc="-100">
              <a:solidFill>
                <a:schemeClr val="tx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0C20D05-F8BB-0382-2F04-CC60A0CB70C6}"/>
              </a:ext>
            </a:extLst>
          </p:cNvPr>
          <p:cNvSpPr txBox="1"/>
          <p:nvPr/>
        </p:nvSpPr>
        <p:spPr>
          <a:xfrm>
            <a:off x="7349128" y="2220109"/>
            <a:ext cx="15433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요청하신 </a:t>
            </a: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Bloom Cooling Pump#F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와 동일한 설비별 진동 </a:t>
            </a: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Trend Graph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050" b="0" i="0" u="none" strike="noStrike" kern="1200" cap="none" spc="-10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4D53AD8-ADBB-4F12-408A-F9037162E8A3}"/>
              </a:ext>
            </a:extLst>
          </p:cNvPr>
          <p:cNvSpPr txBox="1"/>
          <p:nvPr/>
        </p:nvSpPr>
        <p:spPr>
          <a:xfrm>
            <a:off x="7349128" y="2829494"/>
            <a:ext cx="15433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1. Bloom Cooling Pump#A</a:t>
            </a:r>
            <a:endParaRPr kumimoji="0" lang="ko-KR" altLang="en-US" sz="1050" b="0" i="0" u="none" strike="noStrike" kern="1200" cap="none" spc="-10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5" name="그림 114" descr="텍스트, 그래프, 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7D249C5-163F-D6B3-9455-F022B02106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8" b="15586"/>
          <a:stretch/>
        </p:blipFill>
        <p:spPr>
          <a:xfrm>
            <a:off x="7452000" y="3089004"/>
            <a:ext cx="1440479" cy="1030736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BE8EFD5C-6343-500E-365C-26AE7C211AF6}"/>
              </a:ext>
            </a:extLst>
          </p:cNvPr>
          <p:cNvSpPr txBox="1"/>
          <p:nvPr/>
        </p:nvSpPr>
        <p:spPr>
          <a:xfrm>
            <a:off x="7349128" y="4134954"/>
            <a:ext cx="15433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2. Bloom Cooling Pump#B</a:t>
            </a:r>
            <a:endParaRPr kumimoji="0" lang="ko-KR" altLang="en-US" sz="1050" b="0" i="0" u="none" strike="noStrike" kern="1200" cap="none" spc="-10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7" name="그림 116" descr="텍스트, 그래프, 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9C5B005-2503-6988-C4D5-6985DC7A09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8" b="15586"/>
          <a:stretch/>
        </p:blipFill>
        <p:spPr>
          <a:xfrm>
            <a:off x="7452000" y="4394464"/>
            <a:ext cx="1440479" cy="1030736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BAB7AEE3-BA5B-8784-D11E-E3A277EE35F2}"/>
              </a:ext>
            </a:extLst>
          </p:cNvPr>
          <p:cNvSpPr txBox="1"/>
          <p:nvPr/>
        </p:nvSpPr>
        <p:spPr>
          <a:xfrm>
            <a:off x="7178377" y="6116216"/>
            <a:ext cx="15433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b="1" spc="-1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※ Chatbot </a:t>
            </a:r>
            <a:r>
              <a:rPr lang="ko-KR" altLang="en-US" sz="1050" b="1" spc="-1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예시</a:t>
            </a:r>
            <a:endParaRPr kumimoji="0" lang="ko-KR" altLang="en-US" sz="1050" b="1" i="0" u="none" strike="noStrike" kern="1200" cap="none" spc="-10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71F93FF-238C-0774-0520-E05359952AFC}"/>
              </a:ext>
            </a:extLst>
          </p:cNvPr>
          <p:cNvSpPr txBox="1"/>
          <p:nvPr/>
        </p:nvSpPr>
        <p:spPr>
          <a:xfrm>
            <a:off x="7349128" y="5505563"/>
            <a:ext cx="15433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…..</a:t>
            </a:r>
            <a:endParaRPr kumimoji="0" lang="ko-KR" altLang="en-US" sz="1050" b="0" i="0" u="none" strike="noStrike" kern="1200" cap="none" spc="-10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983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5483</Words>
  <Application>Microsoft Office PowerPoint</Application>
  <PresentationFormat>화면 슬라이드 쇼(4:3)</PresentationFormat>
  <Paragraphs>740</Paragraphs>
  <Slides>11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7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맑은 고딕</vt:lpstr>
      <vt:lpstr>Arial</vt:lpstr>
      <vt:lpstr>Office 테마</vt:lpstr>
      <vt:lpstr>디자인 사용자 지정</vt:lpstr>
      <vt:lpstr>1_디자인 사용자 지정</vt:lpstr>
      <vt:lpstr>2_디자인 사용자 지정</vt:lpstr>
      <vt:lpstr>3_디자인 사용자 지정</vt:lpstr>
      <vt:lpstr>4_디자인 사용자 지정</vt:lpstr>
      <vt:lpstr>5_디자인 사용자 지정</vt:lpstr>
      <vt:lpstr>포장기 셸 개체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inpix</dc:creator>
  <cp:lastModifiedBy>김진훈(Kim Jinhoon)_과장_(포항)설비기술부</cp:lastModifiedBy>
  <cp:revision>67</cp:revision>
  <dcterms:created xsi:type="dcterms:W3CDTF">2017-04-17T01:34:38Z</dcterms:created>
  <dcterms:modified xsi:type="dcterms:W3CDTF">2026-09-01T08:11:54Z</dcterms:modified>
</cp:coreProperties>
</file>